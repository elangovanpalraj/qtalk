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6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114" y="48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b18da94e62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b18da94e62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18da94e62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18da94e62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b18da94e62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b18da94e6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b18da94e62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b18da94e62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b18da94e62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b18da94e6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b18da94e62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b18da94e62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b18da94e62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b18da94e62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b18da94e62_0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b18da94e62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b18da94e62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b18da94e62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b18da94e62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b18da94e62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b18da94e62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b18da94e62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b18da94e62_0_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b18da94e62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b18da94e62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b18da94e62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b18da94e62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b18da94e62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b18da94e62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b18da94e62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b18da94e62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b18da94e62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b18da94e62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b18da94e62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b18da94e62_0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b18da94e62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b18da94e62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b18da94e62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b18da94e62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b18da94e62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b18da94e62_0_1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b18da94e62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b18da94e62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b18da94e62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b18da94e62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b18da94e62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b18da94e62_0_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b18da94e62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b18da94e62_0_1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b18da94e62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b18da94e62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b18da94e62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b18da94e62_0_1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b18da94e62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b18da94e62_0_1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b18da94e62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b1b279b49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b1b279b49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b1b279b490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b1b279b49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b1b279b490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b1b279b490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a9370101f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a9370101f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a9370101f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a9370101f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a9370101fe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a9370101f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a9370101fe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a9370101fe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a9370101fe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a9370101fe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a9370101fe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a9370101fe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a9370101fe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a9370101fe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a9370101fe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a9370101fe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b21d4914a7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b21d4914a7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a9370101fe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a9370101fe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a9370101fe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a9370101fe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a9370101fe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a9370101fe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a9370101fe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a9370101fe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a9370101fe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a9370101fe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a9370101fe_0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a9370101fe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a9370101fe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a9370101fe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a9370101fe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a9370101fe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b21d4914a7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b21d4914a7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b21d4914a7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b21d4914a7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b21d4914a7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b21d4914a7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b21d4914a7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b21d4914a7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b21d4914a7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b21d4914a7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b21d4914a7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b21d4914a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b21d4914a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b21d4914a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b21d4914a7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b21d4914a7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b21d4914a7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b21d4914a7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b21d4914a7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b21d4914a7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hyperlink" Target="http://www.fiverr.com" TargetMode="External"/><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hyperlink" Target="http://yourlink.com/deal" TargetMode="External"/><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hyperlink" Target="http://yourlink.com/deal" TargetMode="External"/><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hyperlink" Target="http://yourlink.com/deal" TargetMode="External"/><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468650"/>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WEBINAR PRESENTATION</a:t>
            </a:r>
            <a:endParaRPr/>
          </a:p>
          <a:p>
            <a:pPr marL="0" lvl="0" indent="0" algn="ctr" rtl="0">
              <a:spcBef>
                <a:spcPts val="0"/>
              </a:spcBef>
              <a:spcAft>
                <a:spcPts val="0"/>
              </a:spcAft>
              <a:buNone/>
            </a:pPr>
            <a:r>
              <a:rPr lang="en"/>
              <a:t>SLIDES TEMPLATE</a:t>
            </a:r>
            <a:endParaRPr/>
          </a:p>
        </p:txBody>
      </p:sp>
      <p:sp>
        <p:nvSpPr>
          <p:cNvPr id="55" name="Google Shape;55;p13"/>
          <p:cNvSpPr txBox="1">
            <a:spLocks noGrp="1"/>
          </p:cNvSpPr>
          <p:nvPr>
            <p:ph type="subTitle" idx="1"/>
          </p:nvPr>
        </p:nvSpPr>
        <p:spPr>
          <a:xfrm>
            <a:off x="311700" y="2571750"/>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Go to File → Make a copy to get your own editable copy.</a:t>
            </a:r>
            <a:endParaRPr dirty="0"/>
          </a:p>
        </p:txBody>
      </p:sp>
      <p:pic>
        <p:nvPicPr>
          <p:cNvPr id="56" name="Google Shape;56;p13"/>
          <p:cNvPicPr preferRelativeResize="0"/>
          <p:nvPr/>
        </p:nvPicPr>
        <p:blipFill>
          <a:blip r:embed="rId3">
            <a:alphaModFix/>
          </a:blip>
          <a:stretch>
            <a:fillRect/>
          </a:stretch>
        </p:blipFill>
        <p:spPr>
          <a:xfrm>
            <a:off x="3510650" y="4251525"/>
            <a:ext cx="2286000" cy="381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STARTING SOON: </a:t>
            </a:r>
            <a:endParaRPr/>
          </a:p>
          <a:p>
            <a:pPr marL="0" lvl="0" indent="0" algn="ctr" rtl="0">
              <a:spcBef>
                <a:spcPts val="0"/>
              </a:spcBef>
              <a:spcAft>
                <a:spcPts val="0"/>
              </a:spcAft>
              <a:buNone/>
            </a:pPr>
            <a:r>
              <a:rPr lang="en"/>
              <a:t>[WEBINAR TITLE HERE]</a:t>
            </a:r>
            <a:endParaRPr/>
          </a:p>
        </p:txBody>
      </p:sp>
      <p:sp>
        <p:nvSpPr>
          <p:cNvPr id="62" name="Google Shape;62;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slide will be displayed before you go live.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[WEBINAR TITLE HERE]</a:t>
            </a:r>
            <a:endParaRPr/>
          </a:p>
        </p:txBody>
      </p:sp>
      <p:sp>
        <p:nvSpPr>
          <p:cNvPr id="68" name="Google Shape;68;p1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Add your name/presenters here if you like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[DISCLAIMER]</a:t>
            </a:r>
            <a:endParaRPr/>
          </a:p>
        </p:txBody>
      </p:sp>
      <p:sp>
        <p:nvSpPr>
          <p:cNvPr id="74" name="Google Shape;74;p1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Add any relevant disclaimer here.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IN" dirty="0"/>
              <a:t>How Beginners Can Start A Data Science Career Without Confusion</a:t>
            </a:r>
            <a:endParaRPr dirty="0"/>
          </a:p>
          <a:p>
            <a:pPr lvl="0"/>
            <a:r>
              <a:rPr lang="en-IN" dirty="0"/>
              <a:t>Learn the exact roadmap, skills, and projects required to become a job-ready Data Scientist.</a:t>
            </a:r>
            <a:br>
              <a:rPr lang="en" dirty="0"/>
            </a:br>
            <a:br>
              <a:rPr lang="en" dirty="0"/>
            </a:b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And this is going to allow you to:</a:t>
            </a:r>
            <a:endParaRPr/>
          </a:p>
        </p:txBody>
      </p:sp>
      <p:sp>
        <p:nvSpPr>
          <p:cNvPr id="85" name="Google Shape;8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List a series of benefits here</a:t>
            </a:r>
            <a:endParaRPr/>
          </a:p>
          <a:p>
            <a:pPr marL="0" lvl="0" indent="0" algn="l" rtl="0">
              <a:spcBef>
                <a:spcPts val="1600"/>
              </a:spcBef>
              <a:spcAft>
                <a:spcPts val="0"/>
              </a:spcAft>
              <a:buNone/>
            </a:pPr>
            <a:endParaRPr/>
          </a:p>
          <a:p>
            <a:pPr marL="0" lvl="0" indent="0" algn="l" rtl="0">
              <a:spcBef>
                <a:spcPts val="1600"/>
              </a:spcBef>
              <a:spcAft>
                <a:spcPts val="0"/>
              </a:spcAft>
              <a:buNone/>
            </a:pPr>
            <a:r>
              <a:rPr lang="en"/>
              <a:t>-Finally achieve _____________ without _______________--</a:t>
            </a:r>
            <a:endParaRPr/>
          </a:p>
          <a:p>
            <a:pPr marL="0" lvl="0" indent="0" algn="l" rtl="0">
              <a:spcBef>
                <a:spcPts val="1600"/>
              </a:spcBef>
              <a:spcAft>
                <a:spcPts val="0"/>
              </a:spcAft>
              <a:buNone/>
            </a:pPr>
            <a:r>
              <a:rPr lang="en"/>
              <a:t>-(and everything that would mean to them, and their emotions)</a:t>
            </a:r>
            <a:endParaRPr/>
          </a:p>
          <a:p>
            <a:pPr marL="0" lvl="0" indent="0" algn="l" rtl="0">
              <a:spcBef>
                <a:spcPts val="1600"/>
              </a:spcBef>
              <a:spcAft>
                <a:spcPts val="1600"/>
              </a:spcAft>
              <a:buNone/>
            </a:pPr>
            <a:r>
              <a:rPr lang="en"/>
              <a:t>-Connect with people’s emotions/feeling!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And you’ll want to make sure you stay until the end...</a:t>
            </a:r>
            <a:endParaRPr/>
          </a:p>
        </p:txBody>
      </p:sp>
      <p:sp>
        <p:nvSpPr>
          <p:cNvPr id="91" name="Google Shape;91;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At the end, I’m giving out a: </a:t>
            </a:r>
            <a:r>
              <a:rPr lang="en">
                <a:solidFill>
                  <a:srgbClr val="FF0000"/>
                </a:solidFill>
              </a:rPr>
              <a:t>(give a gift/incentive to stay until the end)</a:t>
            </a:r>
            <a:endParaRPr>
              <a:solidFill>
                <a:srgbClr val="FF0000"/>
              </a:solidFill>
            </a:endParaRPr>
          </a:p>
          <a:p>
            <a:pPr marL="0" lvl="0" indent="0" algn="l" rtl="0">
              <a:spcBef>
                <a:spcPts val="1600"/>
              </a:spcBef>
              <a:spcAft>
                <a:spcPts val="0"/>
              </a:spcAft>
              <a:buNone/>
            </a:pPr>
            <a:r>
              <a:rPr lang="en"/>
              <a:t>-Free cheat-sheet that wraps up the methods we’ll be talking about today</a:t>
            </a:r>
            <a:endParaRPr/>
          </a:p>
          <a:p>
            <a:pPr marL="0" lvl="0" indent="0" algn="l" rtl="0">
              <a:spcBef>
                <a:spcPts val="1600"/>
              </a:spcBef>
              <a:spcAft>
                <a:spcPts val="0"/>
              </a:spcAft>
              <a:buNone/>
            </a:pPr>
            <a:r>
              <a:rPr lang="en"/>
              <a:t>-A free case study explaining…</a:t>
            </a:r>
            <a:endParaRPr/>
          </a:p>
          <a:p>
            <a:pPr marL="0" lvl="0" indent="0" algn="l" rtl="0">
              <a:spcBef>
                <a:spcPts val="1600"/>
              </a:spcBef>
              <a:spcAft>
                <a:spcPts val="0"/>
              </a:spcAft>
              <a:buNone/>
            </a:pPr>
            <a:r>
              <a:rPr lang="en"/>
              <a:t>-A free item that I’ll send to you in the mail…</a:t>
            </a:r>
            <a:endParaRPr/>
          </a:p>
          <a:p>
            <a:pPr marL="0" lvl="0" indent="0" algn="l" rtl="0">
              <a:spcBef>
                <a:spcPts val="1600"/>
              </a:spcBef>
              <a:spcAft>
                <a:spcPts val="1600"/>
              </a:spcAft>
              <a:buNone/>
            </a:pPr>
            <a:r>
              <a:rPr lang="en"/>
              <a:t>-Get creative. What would make you say “wow, I should stay until the end for that!”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Who is this webinar presentation for?</a:t>
            </a:r>
            <a:endParaRPr/>
          </a:p>
        </p:txBody>
      </p:sp>
      <p:sp>
        <p:nvSpPr>
          <p:cNvPr id="97" name="Google Shape;9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Make a list of people who this is for. Try to include anyone relevant but don’t over-stretch it. Include images if you like- you could also do an individual slide per type of person.</a:t>
            </a:r>
            <a:endParaRPr/>
          </a:p>
        </p:txBody>
      </p:sp>
      <p:pic>
        <p:nvPicPr>
          <p:cNvPr id="98" name="Google Shape;98;p20"/>
          <p:cNvPicPr preferRelativeResize="0"/>
          <p:nvPr/>
        </p:nvPicPr>
        <p:blipFill>
          <a:blip r:embed="rId3">
            <a:alphaModFix/>
          </a:blip>
          <a:stretch>
            <a:fillRect/>
          </a:stretch>
        </p:blipFill>
        <p:spPr>
          <a:xfrm>
            <a:off x="1658113" y="2225725"/>
            <a:ext cx="5827774" cy="2248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Who am I and why should you listen to me?</a:t>
            </a:r>
            <a:endParaRPr/>
          </a:p>
        </p:txBody>
      </p:sp>
      <p:sp>
        <p:nvSpPr>
          <p:cNvPr id="104" name="Google Shape;104;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Take this slide to give an overview of yourself.</a:t>
            </a:r>
            <a:endParaRPr/>
          </a:p>
          <a:p>
            <a:pPr marL="0" lvl="0" indent="0" algn="l" rtl="0">
              <a:spcBef>
                <a:spcPts val="1600"/>
              </a:spcBef>
              <a:spcAft>
                <a:spcPts val="1600"/>
              </a:spcAft>
              <a:buNone/>
            </a:pPr>
            <a:r>
              <a:rPr lang="en"/>
              <a:t>A nice photo, highlight what you are best known for (expert at ___) highlight 1-2 authoritative points about yourself (coached 25 people to losing 50 lbs), (have done millions in sales online), then include 1-2 humanizing points that show you’re relatable.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Start a quick, short story of yourself here. Part 1</a:t>
            </a:r>
            <a:endParaRPr/>
          </a:p>
        </p:txBody>
      </p:sp>
      <p:sp>
        <p:nvSpPr>
          <p:cNvPr id="110" name="Google Shape;110;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Start explaining a very relatable story here to your customer avatar. Go back to when you were in their shoes and facing the same problem they are currently facing. </a:t>
            </a:r>
            <a:endParaRPr sz="1600"/>
          </a:p>
          <a:p>
            <a:pPr marL="0" lvl="0" indent="0" algn="l" rtl="0">
              <a:spcBef>
                <a:spcPts val="1600"/>
              </a:spcBef>
              <a:spcAft>
                <a:spcPts val="0"/>
              </a:spcAft>
              <a:buNone/>
            </a:pPr>
            <a:r>
              <a:rPr lang="en" sz="1600"/>
              <a:t>Then, explain how you dealt with the same challenges trying to solve that problem as them, and explain the emotional pain you felt. Include the same issues they faced i.e. bad coaches/mentors, following methods that didn’t work, etc. </a:t>
            </a:r>
            <a:endParaRPr sz="1600"/>
          </a:p>
          <a:p>
            <a:pPr marL="0" lvl="0" indent="0" algn="l" rtl="0">
              <a:spcBef>
                <a:spcPts val="1600"/>
              </a:spcBef>
              <a:spcAft>
                <a:spcPts val="0"/>
              </a:spcAft>
              <a:buNone/>
            </a:pPr>
            <a:r>
              <a:rPr lang="en" sz="1600">
                <a:solidFill>
                  <a:srgbClr val="FF0000"/>
                </a:solidFill>
              </a:rPr>
              <a:t>“Type a 1 in the chatbot if you know what I’m talking about”...wow, lots of 1’s...</a:t>
            </a:r>
            <a:endParaRPr sz="1600">
              <a:solidFill>
                <a:srgbClr val="FF0000"/>
              </a:solidFill>
            </a:endParaRPr>
          </a:p>
          <a:p>
            <a:pPr marL="0" lvl="0" indent="0" algn="l" rtl="0">
              <a:spcBef>
                <a:spcPts val="1600"/>
              </a:spcBef>
              <a:spcAft>
                <a:spcPts val="1600"/>
              </a:spcAft>
              <a:buNone/>
            </a:pPr>
            <a:r>
              <a:rPr lang="en" sz="1600" b="1" u="sng"/>
              <a:t>Be authentic. </a:t>
            </a:r>
            <a:r>
              <a:rPr lang="en" sz="1600"/>
              <a:t>The honesty will shine through to your webinar attendee. Show them that you felt the same emotional pain they are feeling right now. This will show them that you “get it”. </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Story Part 2: You’re their hero </a:t>
            </a:r>
            <a:endParaRPr/>
          </a:p>
          <a:p>
            <a:pPr marL="0" lvl="0" indent="0" algn="l" rtl="0">
              <a:spcBef>
                <a:spcPts val="0"/>
              </a:spcBef>
              <a:spcAft>
                <a:spcPts val="0"/>
              </a:spcAft>
              <a:buNone/>
            </a:pPr>
            <a:r>
              <a:rPr lang="en"/>
              <a:t>(and them, once they solve their problem)</a:t>
            </a:r>
            <a:endParaRPr/>
          </a:p>
        </p:txBody>
      </p:sp>
      <p:sp>
        <p:nvSpPr>
          <p:cNvPr id="116" name="Google Shape;116;p23"/>
          <p:cNvSpPr txBox="1">
            <a:spLocks noGrp="1"/>
          </p:cNvSpPr>
          <p:nvPr>
            <p:ph type="body" idx="1"/>
          </p:nvPr>
        </p:nvSpPr>
        <p:spPr>
          <a:xfrm>
            <a:off x="311700" y="1598200"/>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Now, explain how you triumphed over the problem you faced (the same one they are facing now)</a:t>
            </a:r>
            <a:endParaRPr/>
          </a:p>
          <a:p>
            <a:pPr marL="0" lvl="0" indent="0" algn="l" rtl="0">
              <a:spcBef>
                <a:spcPts val="1600"/>
              </a:spcBef>
              <a:spcAft>
                <a:spcPts val="1600"/>
              </a:spcAft>
              <a:buNone/>
            </a:pPr>
            <a:r>
              <a:rPr lang="en"/>
              <a:t>Then explain how the route you took to solve it was what finally worked, and that’s what you are going to be talking about today...which is why they are in the right place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Story Part 3: Building Authority and Trust</a:t>
            </a:r>
            <a:endParaRPr/>
          </a:p>
        </p:txBody>
      </p:sp>
      <p:sp>
        <p:nvSpPr>
          <p:cNvPr id="122" name="Google Shape;122;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Now, explain a bit about where you are today, now that you've solved the problem you love helping others do the same.</a:t>
            </a:r>
            <a:endParaRPr/>
          </a:p>
          <a:p>
            <a:pPr marL="0" lvl="0" indent="0" algn="l" rtl="0">
              <a:spcBef>
                <a:spcPts val="1600"/>
              </a:spcBef>
              <a:spcAft>
                <a:spcPts val="0"/>
              </a:spcAft>
              <a:buNone/>
            </a:pPr>
            <a:r>
              <a:rPr lang="en"/>
              <a:t>From there, share some authority to show you are recognized by others as an expert now as well to further back up your story. I.E. featured on certain podcasts, blogs, media, speaking in the past, customer testimonials… (without explaining you’re selling anything just yet).</a:t>
            </a:r>
            <a:endParaRPr/>
          </a:p>
          <a:p>
            <a:pPr marL="0" lvl="0" indent="0" algn="l" rtl="0">
              <a:spcBef>
                <a:spcPts val="1600"/>
              </a:spcBef>
              <a:spcAft>
                <a:spcPts val="1600"/>
              </a:spcAft>
              <a:buNone/>
            </a:pPr>
            <a:r>
              <a:rPr lang="en"/>
              <a:t>I.E. “And now I am passionate about helping others also lose weight...like Julia, who with my help, lost 50 lbs using the things we’re going to be talking about today.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Story Part 4: Results, results, results!</a:t>
            </a:r>
            <a:endParaRPr/>
          </a:p>
        </p:txBody>
      </p:sp>
      <p:sp>
        <p:nvSpPr>
          <p:cNvPr id="128" name="Google Shape;128;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Keep showing them results you’ve gotten for people.</a:t>
            </a:r>
            <a:endParaRPr/>
          </a:p>
          <a:p>
            <a:pPr marL="0" lvl="0" indent="0" algn="l" rtl="0">
              <a:spcBef>
                <a:spcPts val="1600"/>
              </a:spcBef>
              <a:spcAft>
                <a:spcPts val="0"/>
              </a:spcAft>
              <a:buNone/>
            </a:pPr>
            <a:r>
              <a:rPr lang="en"/>
              <a:t>(Don’t explain anything about a program or anything you’re selling- right now we’re just showing them that you are someone who went through all their pains and now help people just like them solve the same problem they face- </a:t>
            </a:r>
            <a:endParaRPr/>
          </a:p>
          <a:p>
            <a:pPr marL="0" lvl="0" indent="0" algn="l" rtl="0">
              <a:spcBef>
                <a:spcPts val="1600"/>
              </a:spcBef>
              <a:spcAft>
                <a:spcPts val="0"/>
              </a:spcAft>
              <a:buNone/>
            </a:pPr>
            <a:r>
              <a:rPr lang="en"/>
              <a:t>Leading them to see that you are the ideal person they can: </a:t>
            </a:r>
            <a:endParaRPr/>
          </a:p>
          <a:p>
            <a:pPr marL="457200" lvl="0" indent="-342900" algn="l" rtl="0">
              <a:spcBef>
                <a:spcPts val="1600"/>
              </a:spcBef>
              <a:spcAft>
                <a:spcPts val="0"/>
              </a:spcAft>
              <a:buSzPts val="1800"/>
              <a:buAutoNum type="arabicParenR"/>
            </a:pPr>
            <a:r>
              <a:rPr lang="en"/>
              <a:t>Trust </a:t>
            </a:r>
            <a:endParaRPr/>
          </a:p>
          <a:p>
            <a:pPr marL="457200" lvl="0" indent="-342900" algn="l" rtl="0">
              <a:spcBef>
                <a:spcPts val="0"/>
              </a:spcBef>
              <a:spcAft>
                <a:spcPts val="0"/>
              </a:spcAft>
              <a:buSzPts val="1800"/>
              <a:buAutoNum type="arabicParenR"/>
            </a:pPr>
            <a:r>
              <a:rPr lang="en"/>
              <a:t>Knows exactly how to help them solve their painful problem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Note About Your Story </a:t>
            </a:r>
            <a:endParaRPr/>
          </a:p>
          <a:p>
            <a:pPr marL="0" lvl="0" indent="0" algn="l" rtl="0">
              <a:spcBef>
                <a:spcPts val="0"/>
              </a:spcBef>
              <a:spcAft>
                <a:spcPts val="0"/>
              </a:spcAft>
              <a:buNone/>
            </a:pPr>
            <a:r>
              <a:rPr lang="en" i="1">
                <a:solidFill>
                  <a:srgbClr val="FF0000"/>
                </a:solidFill>
              </a:rPr>
              <a:t>(this slide is just a note to you)</a:t>
            </a:r>
            <a:endParaRPr i="1">
              <a:solidFill>
                <a:srgbClr val="FF0000"/>
              </a:solidFill>
            </a:endParaRPr>
          </a:p>
        </p:txBody>
      </p:sp>
      <p:sp>
        <p:nvSpPr>
          <p:cNvPr id="134" name="Google Shape;134;p26"/>
          <p:cNvSpPr txBox="1">
            <a:spLocks noGrp="1"/>
          </p:cNvSpPr>
          <p:nvPr>
            <p:ph type="body" idx="1"/>
          </p:nvPr>
        </p:nvSpPr>
        <p:spPr>
          <a:xfrm>
            <a:off x="376225" y="169432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Note, you can take as many slides as you need for your story. Try to keep it as short as possible, simply to explain that you were where they once were, and now you’ve overcome the problem they are still facing.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7"/>
          <p:cNvSpPr txBox="1">
            <a:spLocks noGrp="1"/>
          </p:cNvSpPr>
          <p:nvPr>
            <p:ph type="ctrTitle"/>
          </p:nvPr>
        </p:nvSpPr>
        <p:spPr>
          <a:xfrm>
            <a:off x="311700" y="313000"/>
            <a:ext cx="8520600" cy="3429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000" b="1"/>
              <a:t>So now, I’m sure you see why I’m so excited to share all of this with you!</a:t>
            </a:r>
            <a:endParaRPr sz="2000" b="1"/>
          </a:p>
          <a:p>
            <a:pPr marL="0" lvl="0" indent="0" algn="ctr" rtl="0">
              <a:spcBef>
                <a:spcPts val="0"/>
              </a:spcBef>
              <a:spcAft>
                <a:spcPts val="0"/>
              </a:spcAft>
              <a:buNone/>
            </a:pPr>
            <a:endParaRPr sz="2000"/>
          </a:p>
          <a:p>
            <a:pPr marL="0" lvl="0" indent="0" algn="ctr" rtl="0">
              <a:spcBef>
                <a:spcPts val="0"/>
              </a:spcBef>
              <a:spcAft>
                <a:spcPts val="0"/>
              </a:spcAft>
              <a:buNone/>
            </a:pPr>
            <a:r>
              <a:rPr lang="en" sz="2000">
                <a:solidFill>
                  <a:srgbClr val="FF0000"/>
                </a:solidFill>
              </a:rPr>
              <a:t>So now, type a “1” in the chatbot if you’re ready to dive in, so I can show you how I ____________….</a:t>
            </a:r>
            <a:endParaRPr sz="2000">
              <a:solidFill>
                <a:srgbClr val="FF0000"/>
              </a:solidFill>
            </a:endParaRPr>
          </a:p>
          <a:p>
            <a:pPr marL="0" lvl="0" indent="0" algn="ctr" rtl="0">
              <a:spcBef>
                <a:spcPts val="0"/>
              </a:spcBef>
              <a:spcAft>
                <a:spcPts val="0"/>
              </a:spcAft>
              <a:buNone/>
            </a:pPr>
            <a:endParaRPr sz="2000"/>
          </a:p>
          <a:p>
            <a:pPr marL="0" lvl="0" indent="0" algn="ctr" rtl="0">
              <a:spcBef>
                <a:spcPts val="0"/>
              </a:spcBef>
              <a:spcAft>
                <a:spcPts val="0"/>
              </a:spcAft>
              <a:buNone/>
            </a:pPr>
            <a:r>
              <a:rPr lang="en" sz="2000"/>
              <a:t>“Awesome! Lots of ones coming in! Let’s dive in…”</a:t>
            </a:r>
            <a:endParaRPr sz="2000"/>
          </a:p>
          <a:p>
            <a:pPr marL="0" lvl="0" indent="0" algn="ctr" rtl="0">
              <a:spcBef>
                <a:spcPts val="0"/>
              </a:spcBef>
              <a:spcAft>
                <a:spcPts val="0"/>
              </a:spcAft>
              <a:buNone/>
            </a:pPr>
            <a:endParaRPr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8"/>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My Goals For You Today</a:t>
            </a:r>
            <a:endParaRPr/>
          </a:p>
        </p:txBody>
      </p:sp>
      <p:sp>
        <p:nvSpPr>
          <p:cNvPr id="145" name="Google Shape;145;p28"/>
          <p:cNvSpPr txBox="1">
            <a:spLocks noGrp="1"/>
          </p:cNvSpPr>
          <p:nvPr>
            <p:ph type="body" idx="1"/>
          </p:nvPr>
        </p:nvSpPr>
        <p:spPr>
          <a:xfrm>
            <a:off x="311700" y="1598200"/>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arenR"/>
            </a:pPr>
            <a:r>
              <a:rPr lang="en"/>
              <a:t>Discover my method for ______________________-</a:t>
            </a:r>
            <a:endParaRPr/>
          </a:p>
          <a:p>
            <a:pPr marL="457200" lvl="0" indent="-342900" algn="l" rtl="0">
              <a:spcBef>
                <a:spcPts val="0"/>
              </a:spcBef>
              <a:spcAft>
                <a:spcPts val="0"/>
              </a:spcAft>
              <a:buSzPts val="1800"/>
              <a:buAutoNum type="arabicParenR"/>
            </a:pPr>
            <a:r>
              <a:rPr lang="en"/>
              <a:t>Give you the “under the hood” look at how you can implement these steps to help you join in on _______________</a:t>
            </a:r>
            <a:endParaRPr/>
          </a:p>
          <a:p>
            <a:pPr marL="0" lvl="0" indent="0" algn="l" rtl="0">
              <a:spcBef>
                <a:spcPts val="1600"/>
              </a:spcBef>
              <a:spcAft>
                <a:spcPts val="1600"/>
              </a:spcAft>
              <a:buNone/>
            </a:pPr>
            <a:r>
              <a:rPr lang="en">
                <a:solidFill>
                  <a:srgbClr val="FF0000"/>
                </a:solidFill>
              </a:rPr>
              <a:t>Set the stage for helping them discover your highly valuable information (solve their painful problem) and how it will also be able to be directly applied to them. </a:t>
            </a:r>
            <a:endParaRPr>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9"/>
          <p:cNvSpPr txBox="1">
            <a:spLocks noGrp="1"/>
          </p:cNvSpPr>
          <p:nvPr>
            <p:ph type="title"/>
          </p:nvPr>
        </p:nvSpPr>
        <p:spPr>
          <a:xfrm>
            <a:off x="311700" y="2090250"/>
            <a:ext cx="8520600" cy="963000"/>
          </a:xfrm>
          <a:prstGeom prst="rect">
            <a:avLst/>
          </a:prstGeom>
        </p:spPr>
        <p:txBody>
          <a:bodyPr spcFirstLastPara="1" wrap="square" lIns="91425" tIns="91425" rIns="91425" bIns="91425" anchor="ctr" anchorCtr="0">
            <a:noAutofit/>
          </a:bodyPr>
          <a:lstStyle/>
          <a:p>
            <a:pPr lvl="0" algn="ctr"/>
            <a:r>
              <a:rPr lang="en-IN" dirty="0"/>
              <a:t>The Right Roadmap To Become A Data Scientist</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0"/>
          <p:cNvSpPr txBox="1">
            <a:spLocks noGrp="1"/>
          </p:cNvSpPr>
          <p:nvPr>
            <p:ph type="title"/>
          </p:nvPr>
        </p:nvSpPr>
        <p:spPr>
          <a:xfrm>
            <a:off x="311700" y="2090250"/>
            <a:ext cx="8520600" cy="963000"/>
          </a:xfrm>
          <a:prstGeom prst="rect">
            <a:avLst/>
          </a:prstGeom>
        </p:spPr>
        <p:txBody>
          <a:bodyPr spcFirstLastPara="1" wrap="square" lIns="91425" tIns="91425" rIns="91425" bIns="91425" anchor="ctr" anchorCtr="0">
            <a:noAutofit/>
          </a:bodyPr>
          <a:lstStyle/>
          <a:p>
            <a:pPr lvl="0" algn="ctr"/>
            <a:r>
              <a:rPr lang="en-IN" dirty="0"/>
              <a:t>How To Build Real-World Projects That Impress Recruiters</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1"/>
          <p:cNvSpPr txBox="1">
            <a:spLocks noGrp="1"/>
          </p:cNvSpPr>
          <p:nvPr>
            <p:ph type="title"/>
          </p:nvPr>
        </p:nvSpPr>
        <p:spPr>
          <a:xfrm>
            <a:off x="311700" y="2090250"/>
            <a:ext cx="8520600" cy="963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t>A few slides about secret #1.</a:t>
            </a:r>
            <a:endParaRPr b="1"/>
          </a:p>
          <a:p>
            <a:pPr marL="457200" lvl="0" indent="-406400" algn="ctr" rtl="0">
              <a:spcBef>
                <a:spcPts val="0"/>
              </a:spcBef>
              <a:spcAft>
                <a:spcPts val="0"/>
              </a:spcAft>
              <a:buSzPts val="2800"/>
              <a:buChar char="●"/>
            </a:pPr>
            <a:r>
              <a:rPr lang="en"/>
              <a:t>Try to focus on building trust, excitement, validation of your particular solution as the BEST solution that works fast, easier than others, etc. Leverage storytelling, humor, and personality if you can.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2"/>
          <p:cNvSpPr txBox="1">
            <a:spLocks noGrp="1"/>
          </p:cNvSpPr>
          <p:nvPr>
            <p:ph type="title"/>
          </p:nvPr>
        </p:nvSpPr>
        <p:spPr>
          <a:xfrm>
            <a:off x="311700" y="445025"/>
            <a:ext cx="8520600" cy="963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3 Secrets To (Main Topic of Webinar/Problem To Solve)</a:t>
            </a:r>
            <a:endParaRPr dirty="0"/>
          </a:p>
        </p:txBody>
      </p:sp>
      <p:sp>
        <p:nvSpPr>
          <p:cNvPr id="166" name="Google Shape;166;p32"/>
          <p:cNvSpPr txBox="1">
            <a:spLocks noGrp="1"/>
          </p:cNvSpPr>
          <p:nvPr>
            <p:ph type="body" idx="1"/>
          </p:nvPr>
        </p:nvSpPr>
        <p:spPr>
          <a:xfrm>
            <a:off x="311700" y="1598200"/>
            <a:ext cx="8520600" cy="3416400"/>
          </a:xfrm>
          <a:prstGeom prst="rect">
            <a:avLst/>
          </a:prstGeom>
        </p:spPr>
        <p:txBody>
          <a:bodyPr spcFirstLastPara="1" wrap="square" lIns="91425" tIns="91425" rIns="91425" bIns="91425" anchor="t" anchorCtr="0">
            <a:noAutofit/>
          </a:bodyPr>
          <a:lstStyle/>
          <a:p>
            <a:pPr marL="0" lvl="0" indent="0">
              <a:spcAft>
                <a:spcPts val="1600"/>
              </a:spcAft>
              <a:buNone/>
            </a:pPr>
            <a:r>
              <a:rPr lang="en-IN" dirty="0"/>
              <a:t>The Industry-Approved Learning Roadmap </a:t>
            </a:r>
          </a:p>
          <a:p>
            <a:pPr marL="0" lvl="0" indent="0">
              <a:spcAft>
                <a:spcPts val="1600"/>
              </a:spcAft>
              <a:buNone/>
            </a:pPr>
            <a:r>
              <a:rPr lang="en-IN" dirty="0"/>
              <a:t>The Project Strategy Used By Successful Data Scientists </a:t>
            </a:r>
          </a:p>
          <a:p>
            <a:pPr marL="0" lvl="0" indent="0">
              <a:spcAft>
                <a:spcPts val="1600"/>
              </a:spcAft>
              <a:buNone/>
            </a:pPr>
            <a:r>
              <a:rPr lang="en-IN" dirty="0"/>
              <a:t>The Career Strategy To Get Data Science Opportunities</a:t>
            </a:r>
            <a:endParaRPr dirty="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3"/>
          <p:cNvSpPr txBox="1">
            <a:spLocks noGrp="1"/>
          </p:cNvSpPr>
          <p:nvPr>
            <p:ph type="title"/>
          </p:nvPr>
        </p:nvSpPr>
        <p:spPr>
          <a:xfrm>
            <a:off x="311700" y="2090250"/>
            <a:ext cx="8520600" cy="963000"/>
          </a:xfrm>
          <a:prstGeom prst="rect">
            <a:avLst/>
          </a:prstGeom>
        </p:spPr>
        <p:txBody>
          <a:bodyPr spcFirstLastPara="1" wrap="square" lIns="91425" tIns="91425" rIns="91425" bIns="91425" anchor="ctr" anchorCtr="0">
            <a:noAutofit/>
          </a:bodyPr>
          <a:lstStyle/>
          <a:p>
            <a:pPr lvl="0" algn="ctr"/>
            <a:r>
              <a:rPr lang="en-IN" dirty="0"/>
              <a:t>How To Prepare For Data Science Jobs &amp; Interviews</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4"/>
          <p:cNvSpPr txBox="1">
            <a:spLocks noGrp="1"/>
          </p:cNvSpPr>
          <p:nvPr>
            <p:ph type="title"/>
          </p:nvPr>
        </p:nvSpPr>
        <p:spPr>
          <a:xfrm>
            <a:off x="311700" y="2090250"/>
            <a:ext cx="8520600" cy="963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t>A few slides about secret #2.</a:t>
            </a:r>
            <a:endParaRPr b="1"/>
          </a:p>
          <a:p>
            <a:pPr marL="457200" lvl="0" indent="-406400" algn="ctr" rtl="0">
              <a:spcBef>
                <a:spcPts val="0"/>
              </a:spcBef>
              <a:spcAft>
                <a:spcPts val="0"/>
              </a:spcAft>
              <a:buSzPts val="2800"/>
              <a:buChar char="●"/>
            </a:pPr>
            <a:r>
              <a:rPr lang="en"/>
              <a:t>Try to focus on building trust, excitement, validation of your particular solution as the BEST solution that works fast, easier than others, etc. Leverage storytelling, humor, and personality if you can.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5"/>
          <p:cNvSpPr txBox="1">
            <a:spLocks noGrp="1"/>
          </p:cNvSpPr>
          <p:nvPr>
            <p:ph type="title"/>
          </p:nvPr>
        </p:nvSpPr>
        <p:spPr>
          <a:xfrm>
            <a:off x="311700" y="445025"/>
            <a:ext cx="8520600" cy="963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 Secrets To (Main Topic of Webinar/Problem To Solve)</a:t>
            </a:r>
            <a:endParaRPr/>
          </a:p>
        </p:txBody>
      </p:sp>
      <p:sp>
        <p:nvSpPr>
          <p:cNvPr id="182" name="Google Shape;182;p35"/>
          <p:cNvSpPr txBox="1">
            <a:spLocks noGrp="1"/>
          </p:cNvSpPr>
          <p:nvPr>
            <p:ph type="body" idx="1"/>
          </p:nvPr>
        </p:nvSpPr>
        <p:spPr>
          <a:xfrm>
            <a:off x="311700" y="1598200"/>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Secret #1:</a:t>
            </a:r>
            <a:r>
              <a:rPr lang="en"/>
              <a:t> (Secret should make them super excited about why your solution is the best solution, better than the others, or some true value).</a:t>
            </a:r>
            <a:endParaRPr/>
          </a:p>
          <a:p>
            <a:pPr marL="0" lvl="0" indent="0" algn="l" rtl="0">
              <a:spcBef>
                <a:spcPts val="1600"/>
              </a:spcBef>
              <a:spcAft>
                <a:spcPts val="1600"/>
              </a:spcAft>
              <a:buNone/>
            </a:pPr>
            <a:r>
              <a:rPr lang="en" b="1"/>
              <a:t>Secret #2:</a:t>
            </a:r>
            <a:r>
              <a:rPr lang="en"/>
              <a:t> (Another awesome piece of discovery- try to go for a combination of discovery/validating your concept).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6"/>
          <p:cNvSpPr txBox="1">
            <a:spLocks noGrp="1"/>
          </p:cNvSpPr>
          <p:nvPr>
            <p:ph type="title"/>
          </p:nvPr>
        </p:nvSpPr>
        <p:spPr>
          <a:xfrm>
            <a:off x="311700" y="2090250"/>
            <a:ext cx="8520600" cy="963000"/>
          </a:xfrm>
          <a:prstGeom prst="rect">
            <a:avLst/>
          </a:prstGeom>
        </p:spPr>
        <p:txBody>
          <a:bodyPr spcFirstLastPara="1" wrap="square" lIns="91425" tIns="91425" rIns="91425" bIns="91425" anchor="ctr" anchorCtr="0">
            <a:noAutofit/>
          </a:bodyPr>
          <a:lstStyle/>
          <a:p>
            <a:r>
              <a:rPr lang="en-IN" dirty="0"/>
              <a:t>join My Data Science Career Accelerator Program</a:t>
            </a:r>
            <a:br>
              <a:rPr lang="en-IN" dirty="0"/>
            </a:br>
            <a:r>
              <a:rPr lang="en-IN" dirty="0"/>
              <a:t>Includes:</a:t>
            </a:r>
            <a:br>
              <a:rPr lang="en-IN" dirty="0"/>
            </a:br>
            <a:r>
              <a:rPr lang="en-IN" dirty="0"/>
              <a:t>Python </a:t>
            </a:r>
            <a:br>
              <a:rPr lang="en-IN" dirty="0"/>
            </a:br>
            <a:r>
              <a:rPr lang="en-IN" dirty="0"/>
              <a:t>SQL </a:t>
            </a:r>
            <a:br>
              <a:rPr lang="en-IN" dirty="0"/>
            </a:br>
            <a:r>
              <a:rPr lang="en-IN" dirty="0"/>
              <a:t>Machine Learning </a:t>
            </a:r>
            <a:br>
              <a:rPr lang="en-IN" dirty="0"/>
            </a:br>
            <a:r>
              <a:rPr lang="en-IN" dirty="0"/>
              <a:t>Projects </a:t>
            </a:r>
            <a:br>
              <a:rPr lang="en-IN" dirty="0"/>
            </a:br>
            <a:r>
              <a:rPr lang="en-IN" dirty="0"/>
              <a:t>Resume Building </a:t>
            </a:r>
            <a:br>
              <a:rPr lang="en-IN" dirty="0"/>
            </a:br>
            <a:r>
              <a:rPr lang="en-IN" dirty="0"/>
              <a:t>Interview Preparation </a:t>
            </a:r>
            <a:br>
              <a:rPr lang="en-IN" dirty="0"/>
            </a:br>
            <a:r>
              <a:rPr lang="en-IN" dirty="0"/>
              <a:t>Career Support</a:t>
            </a:r>
            <a:br>
              <a:rPr lang="en-IN" dirty="0"/>
            </a:b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7"/>
          <p:cNvSpPr txBox="1">
            <a:spLocks noGrp="1"/>
          </p:cNvSpPr>
          <p:nvPr>
            <p:ph type="title"/>
          </p:nvPr>
        </p:nvSpPr>
        <p:spPr>
          <a:xfrm>
            <a:off x="311700" y="2090250"/>
            <a:ext cx="8520600" cy="963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t>A few slides about secret #3.</a:t>
            </a:r>
            <a:endParaRPr b="1"/>
          </a:p>
          <a:p>
            <a:pPr marL="457200" lvl="0" indent="-406400" algn="ctr" rtl="0">
              <a:spcBef>
                <a:spcPts val="0"/>
              </a:spcBef>
              <a:spcAft>
                <a:spcPts val="0"/>
              </a:spcAft>
              <a:buSzPts val="2800"/>
              <a:buChar char="●"/>
            </a:pPr>
            <a:r>
              <a:rPr lang="en"/>
              <a:t>Try to teach something here. You don’t have to go crazy. If you’re pitching a done for you service, you can give them the overview of the process, so later you can pitch “so now you can do it all yourself, or… have me do it”</a:t>
            </a:r>
            <a:endParaRPr/>
          </a:p>
          <a:p>
            <a:pPr marL="457200" lvl="0" indent="-406400" algn="ctr" rtl="0">
              <a:spcBef>
                <a:spcPts val="0"/>
              </a:spcBef>
              <a:spcAft>
                <a:spcPts val="0"/>
              </a:spcAft>
              <a:buSzPts val="2800"/>
              <a:buChar char="●"/>
            </a:pPr>
            <a:r>
              <a:rPr lang="en"/>
              <a:t>Teaching a bit to give value and make them feel excited/like they learned something, will establish trust, excitement, familiarity and belief in you as a teacher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8"/>
          <p:cNvSpPr txBox="1">
            <a:spLocks noGrp="1"/>
          </p:cNvSpPr>
          <p:nvPr>
            <p:ph type="title"/>
          </p:nvPr>
        </p:nvSpPr>
        <p:spPr>
          <a:xfrm>
            <a:off x="311700" y="445025"/>
            <a:ext cx="8520600" cy="963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 Secrets To (Main Topic of Webinar/Problem To Solve)</a:t>
            </a:r>
            <a:endParaRPr/>
          </a:p>
        </p:txBody>
      </p:sp>
      <p:sp>
        <p:nvSpPr>
          <p:cNvPr id="198" name="Google Shape;198;p38"/>
          <p:cNvSpPr txBox="1">
            <a:spLocks noGrp="1"/>
          </p:cNvSpPr>
          <p:nvPr>
            <p:ph type="body" idx="1"/>
          </p:nvPr>
        </p:nvSpPr>
        <p:spPr>
          <a:xfrm>
            <a:off x="311700" y="1598200"/>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Secret #1:</a:t>
            </a:r>
            <a:r>
              <a:rPr lang="en"/>
              <a:t> (Secret should make them super excited about why your solution is the best solution, better than the others, or some true value).</a:t>
            </a:r>
            <a:endParaRPr/>
          </a:p>
          <a:p>
            <a:pPr marL="0" lvl="0" indent="0" algn="l" rtl="0">
              <a:spcBef>
                <a:spcPts val="1600"/>
              </a:spcBef>
              <a:spcAft>
                <a:spcPts val="0"/>
              </a:spcAft>
              <a:buNone/>
            </a:pPr>
            <a:r>
              <a:rPr lang="en" b="1"/>
              <a:t>Secret #2:</a:t>
            </a:r>
            <a:r>
              <a:rPr lang="en"/>
              <a:t> (Another awesome piece of discovery- try to go for a combination of discovery/validating your concept).</a:t>
            </a:r>
            <a:endParaRPr/>
          </a:p>
          <a:p>
            <a:pPr marL="0" lvl="0" indent="0" algn="l" rtl="0">
              <a:spcBef>
                <a:spcPts val="1600"/>
              </a:spcBef>
              <a:spcAft>
                <a:spcPts val="1600"/>
              </a:spcAft>
              <a:buClr>
                <a:schemeClr val="dk1"/>
              </a:buClr>
              <a:buSzPts val="1100"/>
              <a:buFont typeface="Arial"/>
              <a:buNone/>
            </a:pPr>
            <a:r>
              <a:rPr lang="en" b="1"/>
              <a:t>Secret #3:</a:t>
            </a:r>
            <a:r>
              <a:rPr lang="en"/>
              <a:t> Discovery + teaching (show them some value so they actually get something from the call- share one of your methods, go for value+ showing them that you are knowledgeable and a capable teacher).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9"/>
          <p:cNvSpPr txBox="1">
            <a:spLocks noGrp="1"/>
          </p:cNvSpPr>
          <p:nvPr>
            <p:ph type="title"/>
          </p:nvPr>
        </p:nvSpPr>
        <p:spPr>
          <a:xfrm>
            <a:off x="804758" y="2090250"/>
            <a:ext cx="8520600" cy="963000"/>
          </a:xfrm>
          <a:prstGeom prst="rect">
            <a:avLst/>
          </a:prstGeom>
        </p:spPr>
        <p:txBody>
          <a:bodyPr spcFirstLastPara="1" wrap="square" lIns="91425" tIns="91425" rIns="91425" bIns="91425" anchor="ctr" anchorCtr="0">
            <a:noAutofit/>
          </a:bodyPr>
          <a:lstStyle/>
          <a:p>
            <a:r>
              <a:rPr lang="en-IN" b="1" dirty="0"/>
              <a:t>5: Bonuses</a:t>
            </a:r>
            <a:br>
              <a:rPr lang="en-IN" b="1" dirty="0"/>
            </a:br>
            <a:r>
              <a:rPr lang="en-IN" dirty="0"/>
              <a:t>Data Science Roadmap PDF </a:t>
            </a:r>
            <a:br>
              <a:rPr lang="en-IN" dirty="0"/>
            </a:br>
            <a:r>
              <a:rPr lang="en-IN" dirty="0"/>
              <a:t>Interview Questions Cheat Sheet </a:t>
            </a:r>
            <a:br>
              <a:rPr lang="en-IN" dirty="0"/>
            </a:br>
            <a:r>
              <a:rPr lang="en-IN" dirty="0"/>
              <a:t>Project Ideas Guide </a:t>
            </a:r>
            <a:br>
              <a:rPr lang="en-IN" dirty="0"/>
            </a:br>
            <a:r>
              <a:rPr lang="en-IN" dirty="0"/>
              <a:t>Resume </a:t>
            </a:r>
            <a:r>
              <a:rPr lang="en-IN" dirty="0" err="1"/>
              <a:t>Templa</a:t>
            </a:r>
            <a:br>
              <a:rPr lang="en-IN" dirty="0"/>
            </a:b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40"/>
          <p:cNvSpPr txBox="1">
            <a:spLocks noGrp="1"/>
          </p:cNvSpPr>
          <p:nvPr>
            <p:ph type="title"/>
          </p:nvPr>
        </p:nvSpPr>
        <p:spPr>
          <a:xfrm>
            <a:off x="311700" y="321500"/>
            <a:ext cx="8520600" cy="96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a:t>Transition to Pitch (A few options)</a:t>
            </a:r>
            <a:endParaRPr b="1"/>
          </a:p>
        </p:txBody>
      </p:sp>
      <p:sp>
        <p:nvSpPr>
          <p:cNvPr id="209" name="Google Shape;209;p40"/>
          <p:cNvSpPr txBox="1"/>
          <p:nvPr/>
        </p:nvSpPr>
        <p:spPr>
          <a:xfrm>
            <a:off x="316350" y="1195675"/>
            <a:ext cx="8511300" cy="3495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t>Option 1:</a:t>
            </a:r>
            <a:r>
              <a:rPr lang="en"/>
              <a:t> So what I’ve taught you on this call will let you get to (some level of result). If you want to (achieve said result faster, easier, without having to do the work yourself).... Then you might be very interested in a brand new (course/program/done for you service I’ve put together)... Introducing… </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b="1">
                <a:solidFill>
                  <a:schemeClr val="dk1"/>
                </a:solidFill>
              </a:rPr>
              <a:t>Option 2:</a:t>
            </a:r>
            <a:r>
              <a:rPr lang="en">
                <a:solidFill>
                  <a:schemeClr val="dk1"/>
                </a:solidFill>
              </a:rPr>
              <a:t> (Works great if selling done for you) So now you see the whole process...and you have two choices. You can do all of this yourself…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b="1">
                <a:solidFill>
                  <a:schemeClr val="dk1"/>
                </a:solidFill>
              </a:rPr>
              <a:t>Option 3:</a:t>
            </a:r>
            <a:r>
              <a:rPr lang="en">
                <a:solidFill>
                  <a:schemeClr val="dk1"/>
                </a:solidFill>
              </a:rPr>
              <a:t> So what I’ve taught you on this call will let you get to (some level of result). If you want to (achieve said result faster, easier, without having to do the work yourself).... Then you might be very interested in a brand new (course/program/done for you service I’ve put together)... Introducing…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1"/>
          <p:cNvSpPr txBox="1">
            <a:spLocks noGrp="1"/>
          </p:cNvSpPr>
          <p:nvPr>
            <p:ph type="title"/>
          </p:nvPr>
        </p:nvSpPr>
        <p:spPr>
          <a:xfrm>
            <a:off x="311700" y="321500"/>
            <a:ext cx="8520600" cy="963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t>Introducing...</a:t>
            </a:r>
            <a:endParaRPr b="1"/>
          </a:p>
        </p:txBody>
      </p:sp>
      <p:sp>
        <p:nvSpPr>
          <p:cNvPr id="215" name="Google Shape;215;p41"/>
          <p:cNvSpPr txBox="1"/>
          <p:nvPr/>
        </p:nvSpPr>
        <p:spPr>
          <a:xfrm>
            <a:off x="316350" y="1195675"/>
            <a:ext cx="8511300" cy="3495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000" b="1"/>
              <a:t>[PRODUCT /SERVICE REVEAL/ IMAGE HERE]</a:t>
            </a:r>
            <a:endParaRPr sz="4000">
              <a:solidFill>
                <a:schemeClr val="dk1"/>
              </a:solidFill>
            </a:endParaRPr>
          </a:p>
          <a:p>
            <a:pPr marL="0" lvl="0" indent="0" algn="l" rtl="0">
              <a:spcBef>
                <a:spcPts val="0"/>
              </a:spcBef>
              <a:spcAft>
                <a:spcPts val="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42"/>
          <p:cNvSpPr txBox="1">
            <a:spLocks noGrp="1"/>
          </p:cNvSpPr>
          <p:nvPr>
            <p:ph type="title"/>
          </p:nvPr>
        </p:nvSpPr>
        <p:spPr>
          <a:xfrm>
            <a:off x="311700" y="321500"/>
            <a:ext cx="8520600" cy="963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t>In a Nutshell, [ITEM FOR SALE] Will Let You:</a:t>
            </a:r>
            <a:endParaRPr b="1"/>
          </a:p>
        </p:txBody>
      </p:sp>
      <p:sp>
        <p:nvSpPr>
          <p:cNvPr id="221" name="Google Shape;221;p42"/>
          <p:cNvSpPr txBox="1"/>
          <p:nvPr/>
        </p:nvSpPr>
        <p:spPr>
          <a:xfrm>
            <a:off x="316350" y="1195675"/>
            <a:ext cx="8511300" cy="3495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000"/>
              <a:t>[LIST OF WHAT IT WILL DO FOR THEM - PROBLEMS IT SOLVES AND HOW IT DOES SO BETTER THAN ANYTHING ELSE]</a:t>
            </a:r>
            <a:endParaRPr sz="4000"/>
          </a:p>
          <a:p>
            <a:pPr marL="0" lvl="0" indent="0" algn="ctr" rtl="0">
              <a:spcBef>
                <a:spcPts val="0"/>
              </a:spcBef>
              <a:spcAft>
                <a:spcPts val="0"/>
              </a:spcAft>
              <a:buNone/>
            </a:pPr>
            <a:r>
              <a:rPr lang="en" sz="2000">
                <a:solidFill>
                  <a:srgbClr val="FF0000"/>
                </a:solidFill>
              </a:rPr>
              <a:t>(Item) is designed to help you (desired outcome) in (time frame) with/without (good or bad thing)</a:t>
            </a:r>
            <a:endParaRPr sz="2000">
              <a:solidFill>
                <a:srgbClr val="FF0000"/>
              </a:solidFill>
            </a:endParaRPr>
          </a:p>
          <a:p>
            <a:pPr marL="0" lvl="0" indent="0" algn="l"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43"/>
          <p:cNvSpPr txBox="1">
            <a:spLocks noGrp="1"/>
          </p:cNvSpPr>
          <p:nvPr>
            <p:ph type="title"/>
          </p:nvPr>
        </p:nvSpPr>
        <p:spPr>
          <a:xfrm>
            <a:off x="311700" y="321500"/>
            <a:ext cx="8520600" cy="963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t>What That Means For You Is:</a:t>
            </a:r>
            <a:endParaRPr b="1"/>
          </a:p>
        </p:txBody>
      </p:sp>
      <p:sp>
        <p:nvSpPr>
          <p:cNvPr id="227" name="Google Shape;227;p43"/>
          <p:cNvSpPr txBox="1"/>
          <p:nvPr/>
        </p:nvSpPr>
        <p:spPr>
          <a:xfrm>
            <a:off x="316350" y="1195675"/>
            <a:ext cx="8511300" cy="3495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000"/>
              <a:t>[LIST OF WHAT IT MEAN FOR THEM- EMOTIONALLY. MORE RELIEF FROM ____, ETC.]</a:t>
            </a:r>
            <a:endParaRPr sz="4000">
              <a:solidFill>
                <a:schemeClr val="dk1"/>
              </a:solidFill>
            </a:endParaRPr>
          </a:p>
          <a:p>
            <a:pPr marL="0" lvl="0" indent="0" algn="l" rtl="0">
              <a:spcBef>
                <a:spcPts val="0"/>
              </a:spcBef>
              <a:spcAft>
                <a:spcPts val="0"/>
              </a:spcAft>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44"/>
          <p:cNvSpPr txBox="1">
            <a:spLocks noGrp="1"/>
          </p:cNvSpPr>
          <p:nvPr>
            <p:ph type="title"/>
          </p:nvPr>
        </p:nvSpPr>
        <p:spPr>
          <a:xfrm>
            <a:off x="311700" y="321500"/>
            <a:ext cx="8520600" cy="96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a:t>More Specifically, Here’s What’s Included:</a:t>
            </a:r>
            <a:endParaRPr b="1"/>
          </a:p>
        </p:txBody>
      </p:sp>
      <p:sp>
        <p:nvSpPr>
          <p:cNvPr id="233" name="Google Shape;233;p44"/>
          <p:cNvSpPr txBox="1"/>
          <p:nvPr/>
        </p:nvSpPr>
        <p:spPr>
          <a:xfrm>
            <a:off x="316350" y="1195675"/>
            <a:ext cx="8511300" cy="3495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t>(Type of product):</a:t>
            </a:r>
            <a:r>
              <a:rPr lang="en"/>
              <a:t> Video course, E-book, program, coaching, done for you.. Etc, explain exactly what they get in the main item.</a:t>
            </a:r>
            <a:endParaRPr/>
          </a:p>
          <a:p>
            <a:pPr marL="0" lvl="0" indent="0" algn="l" rtl="0">
              <a:spcBef>
                <a:spcPts val="0"/>
              </a:spcBef>
              <a:spcAft>
                <a:spcPts val="0"/>
              </a:spcAft>
              <a:buNone/>
            </a:pPr>
            <a:endParaRPr/>
          </a:p>
          <a:p>
            <a:pPr marL="0" lvl="0" indent="0" algn="l" rtl="0">
              <a:spcBef>
                <a:spcPts val="0"/>
              </a:spcBef>
              <a:spcAft>
                <a:spcPts val="0"/>
              </a:spcAft>
              <a:buNone/>
            </a:pPr>
            <a:r>
              <a:rPr lang="en" b="1"/>
              <a:t>(Supporting Items):</a:t>
            </a:r>
            <a:r>
              <a:rPr lang="en"/>
              <a:t> What else are you including (note, make room for bonuses later)...this should still be something part of the main product. EG. accompanying checklists, homework lessons, PDF or powerpoint transcripts, even things like a FB group etc. </a:t>
            </a:r>
            <a:endParaRPr/>
          </a:p>
          <a:p>
            <a:pPr marL="0" lvl="0" indent="0" algn="l" rtl="0">
              <a:spcBef>
                <a:spcPts val="0"/>
              </a:spcBef>
              <a:spcAft>
                <a:spcPts val="0"/>
              </a:spcAft>
              <a:buNone/>
            </a:pPr>
            <a:endParaRPr/>
          </a:p>
          <a:p>
            <a:pPr marL="0" lvl="0" indent="0" algn="l" rtl="0">
              <a:spcBef>
                <a:spcPts val="0"/>
              </a:spcBef>
              <a:spcAft>
                <a:spcPts val="0"/>
              </a:spcAft>
              <a:buNone/>
            </a:pPr>
            <a:r>
              <a:rPr lang="en" b="1">
                <a:solidFill>
                  <a:schemeClr val="dk1"/>
                </a:solidFill>
              </a:rPr>
              <a:t>Use images to help increase the perceived value where possible. You can have images made easily at </a:t>
            </a:r>
            <a:r>
              <a:rPr lang="en" b="1" u="sng">
                <a:solidFill>
                  <a:schemeClr val="hlink"/>
                </a:solidFill>
                <a:hlinkClick r:id="rId3"/>
              </a:rPr>
              <a:t>www.fiverr.com</a:t>
            </a:r>
            <a:r>
              <a:rPr lang="en" b="1">
                <a:solidFill>
                  <a:schemeClr val="dk1"/>
                </a:solidFill>
              </a:rPr>
              <a:t>.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5"/>
          <p:cNvSpPr txBox="1">
            <a:spLocks noGrp="1"/>
          </p:cNvSpPr>
          <p:nvPr>
            <p:ph type="title"/>
          </p:nvPr>
        </p:nvSpPr>
        <p:spPr>
          <a:xfrm>
            <a:off x="311700" y="321500"/>
            <a:ext cx="8520600" cy="96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a:t>(Item for sale) Helps You Finally (Solve Problem) Once and for All Without (Previous Issues)</a:t>
            </a:r>
            <a:endParaRPr b="1"/>
          </a:p>
        </p:txBody>
      </p:sp>
      <p:sp>
        <p:nvSpPr>
          <p:cNvPr id="239" name="Google Shape;239;p45"/>
          <p:cNvSpPr txBox="1"/>
          <p:nvPr/>
        </p:nvSpPr>
        <p:spPr>
          <a:xfrm>
            <a:off x="408583" y="1487136"/>
            <a:ext cx="8511300" cy="3495000"/>
          </a:xfrm>
          <a:prstGeom prst="rect">
            <a:avLst/>
          </a:prstGeom>
          <a:noFill/>
          <a:ln>
            <a:noFill/>
          </a:ln>
        </p:spPr>
        <p:txBody>
          <a:bodyPr spcFirstLastPara="1" wrap="square" lIns="91425" tIns="91425" rIns="91425" bIns="91425" anchor="ctr" anchorCtr="0">
            <a:noAutofit/>
          </a:bodyPr>
          <a:lstStyle/>
          <a:p>
            <a:r>
              <a:rPr lang="en-IN" b="1" dirty="0"/>
              <a:t>If you offer Mentorship:</a:t>
            </a:r>
          </a:p>
          <a:p>
            <a:r>
              <a:rPr lang="en-IN" b="1" dirty="0"/>
              <a:t>Data Science Career Mentorship Program Helps You Finally Build A Clear Path To Become A Job-Ready Data Scientist Without Wasting Time Learning Random Topics.</a:t>
            </a:r>
            <a:endParaRPr lang="en-IN" dirty="0"/>
          </a:p>
          <a:p>
            <a:pPr marL="0" lvl="0" indent="0" algn="l" rtl="0">
              <a:spcBef>
                <a:spcPts val="0"/>
              </a:spcBef>
              <a:spcAft>
                <a:spcPts val="0"/>
              </a:spcAft>
              <a:buNone/>
            </a:pP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6"/>
          <p:cNvSpPr txBox="1">
            <a:spLocks noGrp="1"/>
          </p:cNvSpPr>
          <p:nvPr>
            <p:ph type="title"/>
          </p:nvPr>
        </p:nvSpPr>
        <p:spPr>
          <a:xfrm>
            <a:off x="311700" y="321500"/>
            <a:ext cx="8520600" cy="96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dirty="0"/>
              <a:t>Quick reminder of how what’s in there helped you</a:t>
            </a:r>
            <a:endParaRPr b="1" dirty="0"/>
          </a:p>
        </p:txBody>
      </p:sp>
      <p:sp>
        <p:nvSpPr>
          <p:cNvPr id="245" name="Google Shape;245;p46"/>
          <p:cNvSpPr txBox="1"/>
          <p:nvPr/>
        </p:nvSpPr>
        <p:spPr>
          <a:xfrm>
            <a:off x="746656" y="1482546"/>
            <a:ext cx="8511300" cy="3495000"/>
          </a:xfrm>
          <a:prstGeom prst="rect">
            <a:avLst/>
          </a:prstGeom>
          <a:noFill/>
          <a:ln>
            <a:noFill/>
          </a:ln>
        </p:spPr>
        <p:txBody>
          <a:bodyPr spcFirstLastPara="1" wrap="square" lIns="91425" tIns="91425" rIns="91425" bIns="91425" anchor="ctr" anchorCtr="0">
            <a:noAutofit/>
          </a:bodyPr>
          <a:lstStyle/>
          <a:p>
            <a:pPr lvl="0"/>
            <a:r>
              <a:rPr lang="en-IN" dirty="0"/>
              <a:t>You now have the roadmap, skills direction, and practical strategies needed to start your Data Science journey with confidence.</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7"/>
          <p:cNvSpPr txBox="1">
            <a:spLocks noGrp="1"/>
          </p:cNvSpPr>
          <p:nvPr>
            <p:ph type="title"/>
          </p:nvPr>
        </p:nvSpPr>
        <p:spPr>
          <a:xfrm>
            <a:off x="311700" y="1113900"/>
            <a:ext cx="8520600" cy="96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b="1">
                <a:solidFill>
                  <a:srgbClr val="FF0000"/>
                </a:solidFill>
              </a:rPr>
              <a:t>Testimonials- list of people who have benefitted from your program</a:t>
            </a:r>
            <a:endParaRPr sz="2400" b="1">
              <a:solidFill>
                <a:srgbClr val="FF0000"/>
              </a:solidFill>
            </a:endParaRPr>
          </a:p>
        </p:txBody>
      </p:sp>
      <p:sp>
        <p:nvSpPr>
          <p:cNvPr id="251" name="Google Shape;251;p47"/>
          <p:cNvSpPr txBox="1">
            <a:spLocks noGrp="1"/>
          </p:cNvSpPr>
          <p:nvPr>
            <p:ph type="title"/>
          </p:nvPr>
        </p:nvSpPr>
        <p:spPr>
          <a:xfrm>
            <a:off x="311700" y="150900"/>
            <a:ext cx="8520600" cy="96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a:t>Don’t Just Take My Word For it:</a:t>
            </a:r>
            <a:endParaRPr b="1"/>
          </a:p>
        </p:txBody>
      </p:sp>
      <p:sp>
        <p:nvSpPr>
          <p:cNvPr id="252" name="Google Shape;252;p47"/>
          <p:cNvSpPr txBox="1"/>
          <p:nvPr/>
        </p:nvSpPr>
        <p:spPr>
          <a:xfrm>
            <a:off x="468750" y="1348075"/>
            <a:ext cx="8511300" cy="3487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t>Here is where you want to give the attendee some FOMO-</a:t>
            </a:r>
            <a:endParaRPr b="1"/>
          </a:p>
          <a:p>
            <a:pPr marL="457200" lvl="0" indent="-317500" algn="l" rtl="0">
              <a:spcBef>
                <a:spcPts val="0"/>
              </a:spcBef>
              <a:spcAft>
                <a:spcPts val="0"/>
              </a:spcAft>
              <a:buSzPts val="1400"/>
              <a:buChar char="●"/>
            </a:pPr>
            <a:r>
              <a:rPr lang="en"/>
              <a:t>Show results people have gotten with your help</a:t>
            </a:r>
            <a:endParaRPr/>
          </a:p>
          <a:p>
            <a:pPr marL="457200" lvl="0" indent="-317500" algn="l" rtl="0">
              <a:spcBef>
                <a:spcPts val="0"/>
              </a:spcBef>
              <a:spcAft>
                <a:spcPts val="0"/>
              </a:spcAft>
              <a:buSzPts val="1400"/>
              <a:buChar char="●"/>
            </a:pPr>
            <a:r>
              <a:rPr lang="en"/>
              <a:t>As opposed to earlier on , here you can show specific testimonials of what people have to say about your program and how it helped them, and them endorsing others jumping on board</a:t>
            </a:r>
            <a:endParaRPr/>
          </a:p>
          <a:p>
            <a:pPr marL="457200" lvl="0" indent="-317500" algn="l" rtl="0">
              <a:spcBef>
                <a:spcPts val="0"/>
              </a:spcBef>
              <a:spcAft>
                <a:spcPts val="0"/>
              </a:spcAft>
              <a:buSzPts val="1400"/>
              <a:buChar char="●"/>
            </a:pPr>
            <a:r>
              <a:rPr lang="en"/>
              <a:t>Character testimonials- perhaps you only have some testimonials of people saying nice things about you as a person or working with you in general- or testimonials from other programs. You can include these last in this section- just as some additional reinforcement that you care, and are trustworthy, as proven by others claiming so.</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Now, You Have Two Choices...</a:t>
            </a:r>
            <a:endParaRPr/>
          </a:p>
        </p:txBody>
      </p:sp>
      <p:pic>
        <p:nvPicPr>
          <p:cNvPr id="258" name="Google Shape;258;p48"/>
          <p:cNvPicPr preferRelativeResize="0"/>
          <p:nvPr/>
        </p:nvPicPr>
        <p:blipFill>
          <a:blip r:embed="rId3">
            <a:alphaModFix/>
          </a:blip>
          <a:stretch>
            <a:fillRect/>
          </a:stretch>
        </p:blipFill>
        <p:spPr>
          <a:xfrm>
            <a:off x="2564625" y="1049850"/>
            <a:ext cx="4014749" cy="1999900"/>
          </a:xfrm>
          <a:prstGeom prst="rect">
            <a:avLst/>
          </a:prstGeom>
          <a:noFill/>
          <a:ln>
            <a:noFill/>
          </a:ln>
        </p:spPr>
      </p:pic>
      <p:pic>
        <p:nvPicPr>
          <p:cNvPr id="259" name="Google Shape;259;p48"/>
          <p:cNvPicPr preferRelativeResize="0"/>
          <p:nvPr/>
        </p:nvPicPr>
        <p:blipFill>
          <a:blip r:embed="rId4">
            <a:alphaModFix/>
          </a:blip>
          <a:stretch>
            <a:fillRect/>
          </a:stretch>
        </p:blipFill>
        <p:spPr>
          <a:xfrm>
            <a:off x="2751925" y="3131400"/>
            <a:ext cx="3640148" cy="1788950"/>
          </a:xfrm>
          <a:prstGeom prst="rect">
            <a:avLst/>
          </a:prstGeom>
          <a:noFill/>
          <a:ln>
            <a:noFill/>
          </a:ln>
        </p:spPr>
      </p:pic>
      <p:sp>
        <p:nvSpPr>
          <p:cNvPr id="260" name="Google Shape;260;p48"/>
          <p:cNvSpPr txBox="1"/>
          <p:nvPr/>
        </p:nvSpPr>
        <p:spPr>
          <a:xfrm>
            <a:off x="6692925" y="1471600"/>
            <a:ext cx="1867800" cy="69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Program/course example</a:t>
            </a:r>
            <a:endParaRPr>
              <a:solidFill>
                <a:srgbClr val="FF0000"/>
              </a:solidFill>
            </a:endParaRPr>
          </a:p>
        </p:txBody>
      </p:sp>
      <p:sp>
        <p:nvSpPr>
          <p:cNvPr id="261" name="Google Shape;261;p48"/>
          <p:cNvSpPr txBox="1"/>
          <p:nvPr/>
        </p:nvSpPr>
        <p:spPr>
          <a:xfrm>
            <a:off x="6714150" y="3544550"/>
            <a:ext cx="1924500" cy="96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Done for you/services example</a:t>
            </a:r>
            <a:endParaRPr>
              <a:solidFill>
                <a:srgbClr val="FF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rgbClr val="FF0000"/>
                </a:solidFill>
              </a:rPr>
              <a:t>Include A Quote Slide If You Like</a:t>
            </a:r>
            <a:endParaRPr>
              <a:solidFill>
                <a:srgbClr val="FF0000"/>
              </a:solidFill>
            </a:endParaRPr>
          </a:p>
        </p:txBody>
      </p:sp>
      <p:pic>
        <p:nvPicPr>
          <p:cNvPr id="267" name="Google Shape;267;p49"/>
          <p:cNvPicPr preferRelativeResize="0"/>
          <p:nvPr/>
        </p:nvPicPr>
        <p:blipFill>
          <a:blip r:embed="rId3">
            <a:alphaModFix/>
          </a:blip>
          <a:stretch>
            <a:fillRect/>
          </a:stretch>
        </p:blipFill>
        <p:spPr>
          <a:xfrm>
            <a:off x="942075" y="1170125"/>
            <a:ext cx="7259853" cy="38209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And You’re Backed By My Guarantee...</a:t>
            </a:r>
            <a:endParaRPr/>
          </a:p>
        </p:txBody>
      </p:sp>
      <p:sp>
        <p:nvSpPr>
          <p:cNvPr id="273" name="Google Shape;273;p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Come up with a realistic guarantee.</a:t>
            </a:r>
            <a:endParaRPr/>
          </a:p>
          <a:p>
            <a:pPr marL="0" lvl="0" indent="0" algn="l" rtl="0">
              <a:spcBef>
                <a:spcPts val="1600"/>
              </a:spcBef>
              <a:spcAft>
                <a:spcPts val="0"/>
              </a:spcAft>
              <a:buNone/>
            </a:pPr>
            <a:r>
              <a:rPr lang="en"/>
              <a:t>It can be a money back guarantee, a “get a certain result by a certain time or money back guarantee”, or “if you don’t get this result we’ll go in and do it for you.”</a:t>
            </a:r>
            <a:endParaRPr/>
          </a:p>
          <a:p>
            <a:pPr marL="0" lvl="0" indent="0" algn="l" rtl="0">
              <a:spcBef>
                <a:spcPts val="1600"/>
              </a:spcBef>
              <a:spcAft>
                <a:spcPts val="1600"/>
              </a:spcAft>
              <a:buNone/>
            </a:pPr>
            <a:r>
              <a:rPr lang="en"/>
              <a:t>Be realistic, be ethical, and make sure you’re doing something legal. However, try to make it compelling to the point where someone feels very little risk taking this leap with you.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To Sum Up Everything...</a:t>
            </a:r>
            <a:endParaRPr/>
          </a:p>
        </p:txBody>
      </p:sp>
      <p:sp>
        <p:nvSpPr>
          <p:cNvPr id="279" name="Google Shape;279;p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Item 1………………………………….$997 Value</a:t>
            </a:r>
            <a:endParaRPr/>
          </a:p>
          <a:p>
            <a:pPr marL="0" lvl="0" indent="0" algn="l" rtl="0">
              <a:spcBef>
                <a:spcPts val="1600"/>
              </a:spcBef>
              <a:spcAft>
                <a:spcPts val="0"/>
              </a:spcAft>
              <a:buNone/>
            </a:pPr>
            <a:r>
              <a:rPr lang="en"/>
              <a:t>Item 2………………………………….$997 Value</a:t>
            </a:r>
            <a:endParaRPr/>
          </a:p>
          <a:p>
            <a:pPr marL="0" lvl="0" indent="0" algn="l" rtl="0">
              <a:spcBef>
                <a:spcPts val="1600"/>
              </a:spcBef>
              <a:spcAft>
                <a:spcPts val="0"/>
              </a:spcAft>
              <a:buNone/>
            </a:pPr>
            <a:r>
              <a:rPr lang="en"/>
              <a:t>Item 3………………………………….$997 Value</a:t>
            </a:r>
            <a:endParaRPr/>
          </a:p>
          <a:p>
            <a:pPr marL="0" lvl="0" indent="0" algn="l" rtl="0">
              <a:spcBef>
                <a:spcPts val="1600"/>
              </a:spcBef>
              <a:spcAft>
                <a:spcPts val="0"/>
              </a:spcAft>
              <a:buNone/>
            </a:pPr>
            <a:r>
              <a:rPr lang="en"/>
              <a:t>Item 4………………………………….$997 Value</a:t>
            </a:r>
            <a:endParaRPr/>
          </a:p>
          <a:p>
            <a:pPr marL="0" lvl="0" indent="0" algn="l" rtl="0">
              <a:spcBef>
                <a:spcPts val="1600"/>
              </a:spcBef>
              <a:spcAft>
                <a:spcPts val="1600"/>
              </a:spcAft>
              <a:buClr>
                <a:schemeClr val="dk1"/>
              </a:buClr>
              <a:buSzPts val="1100"/>
              <a:buFont typeface="Arial"/>
              <a:buNone/>
            </a:pPr>
            <a:r>
              <a:rPr lang="en"/>
              <a:t>Item 5………………………………….$997 Value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Real World Value: $X,XXX</a:t>
            </a:r>
            <a:endParaRPr/>
          </a:p>
        </p:txBody>
      </p:sp>
      <p:sp>
        <p:nvSpPr>
          <p:cNvPr id="285" name="Google Shape;285;p52"/>
          <p:cNvSpPr txBox="1">
            <a:spLocks noGrp="1"/>
          </p:cNvSpPr>
          <p:nvPr>
            <p:ph type="body" idx="1"/>
          </p:nvPr>
        </p:nvSpPr>
        <p:spPr>
          <a:xfrm>
            <a:off x="311700" y="1152475"/>
            <a:ext cx="8520600" cy="38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all this did for you was…. __________________ , you can see how $X,XXX is a steal.</a:t>
            </a:r>
            <a:endParaRPr/>
          </a:p>
          <a:p>
            <a:pPr marL="0" lvl="0" indent="0" algn="l" rtl="0">
              <a:spcBef>
                <a:spcPts val="1600"/>
              </a:spcBef>
              <a:spcAft>
                <a:spcPts val="0"/>
              </a:spcAft>
              <a:buNone/>
            </a:pPr>
            <a:r>
              <a:rPr lang="en"/>
              <a:t>However, I won’t be charging you anywhere near that.</a:t>
            </a:r>
            <a:endParaRPr/>
          </a:p>
          <a:p>
            <a:pPr marL="457200" lvl="0" indent="-342900" algn="l" rtl="0">
              <a:spcBef>
                <a:spcPts val="1600"/>
              </a:spcBef>
              <a:spcAft>
                <a:spcPts val="0"/>
              </a:spcAft>
              <a:buSzPts val="1800"/>
              <a:buChar char="●"/>
            </a:pPr>
            <a:r>
              <a:rPr lang="en"/>
              <a:t>Ways to explain discount (come up with an authentic honest reason, that will resonate! Don’t use a eye-rolling reason).</a:t>
            </a:r>
            <a:endParaRPr/>
          </a:p>
          <a:p>
            <a:pPr marL="914400" lvl="1" indent="-317500" algn="l" rtl="0">
              <a:spcBef>
                <a:spcPts val="0"/>
              </a:spcBef>
              <a:spcAft>
                <a:spcPts val="0"/>
              </a:spcAft>
              <a:buSzPts val="1400"/>
              <a:buChar char="○"/>
            </a:pPr>
            <a:r>
              <a:rPr lang="en"/>
              <a:t>One idea: “have you heard of case study/testimonial pricing? I’ll be offering an extreme discount to anyone who offers to be a case study of results for me and give me an honest testimonial. That means you let me use your results as an example. It’s a win-win. I get some more proof that I know how to help people, and you get a discount. Sound fair?</a:t>
            </a:r>
            <a:endParaRPr/>
          </a:p>
          <a:p>
            <a:pPr marL="914400" lvl="1" indent="-317500" algn="l" rtl="0">
              <a:spcBef>
                <a:spcPts val="0"/>
              </a:spcBef>
              <a:spcAft>
                <a:spcPts val="0"/>
              </a:spcAft>
              <a:buSzPts val="1400"/>
              <a:buChar char="○"/>
            </a:pPr>
            <a:r>
              <a:rPr lang="en"/>
              <a:t>Another idea: “I don’t feel comfortable charging you that”, “I want this to be affordable to you”, Honestly think about a real reason you want to discount- make it a “win-win” type scenario.</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LIVE DEMO/OVER THE SHOULDER</a:t>
            </a:r>
            <a:endParaRPr/>
          </a:p>
        </p:txBody>
      </p:sp>
      <p:sp>
        <p:nvSpPr>
          <p:cNvPr id="291" name="Google Shape;291;p53"/>
          <p:cNvSpPr txBox="1">
            <a:spLocks noGrp="1"/>
          </p:cNvSpPr>
          <p:nvPr>
            <p:ph type="body" idx="1"/>
          </p:nvPr>
        </p:nvSpPr>
        <p:spPr>
          <a:xfrm>
            <a:off x="311700" y="1152475"/>
            <a:ext cx="8520600" cy="38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it applies to your product, show them an over the shoulder demo of your product or the method you’re teaching.</a:t>
            </a:r>
            <a:endParaRPr/>
          </a:p>
          <a:p>
            <a:pPr marL="0" lvl="0" indent="0" algn="l" rtl="0">
              <a:spcBef>
                <a:spcPts val="1600"/>
              </a:spcBef>
              <a:spcAft>
                <a:spcPts val="1600"/>
              </a:spcAft>
              <a:buNone/>
            </a:pPr>
            <a:r>
              <a:rPr lang="en">
                <a:solidFill>
                  <a:srgbClr val="FF0000"/>
                </a:solidFill>
              </a:rPr>
              <a:t>For example, one of our webinars is a Pinterest marketing webinar. Many people wonder “is my niche even on Pinterest?” We did a segment going live on the webinar to Pinterest, and asking everyone to give us a niche. We took them one by one showing them that their niche AND competitors were there. It left everyone excited and turned all non-believers to “wow, I need this!”</a:t>
            </a:r>
            <a:endParaRPr>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54"/>
          <p:cNvSpPr txBox="1">
            <a:spLocks noGrp="1"/>
          </p:cNvSpPr>
          <p:nvPr>
            <p:ph type="title"/>
          </p:nvPr>
        </p:nvSpPr>
        <p:spPr>
          <a:xfrm>
            <a:off x="311700" y="445025"/>
            <a:ext cx="8520600" cy="123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Before I Announce The Final [CASE STUDY/DISCOUNTED ETC.] PRICING… </a:t>
            </a:r>
            <a:endParaRPr/>
          </a:p>
        </p:txBody>
      </p:sp>
      <p:sp>
        <p:nvSpPr>
          <p:cNvPr id="297" name="Google Shape;297;p54"/>
          <p:cNvSpPr txBox="1">
            <a:spLocks noGrp="1"/>
          </p:cNvSpPr>
          <p:nvPr>
            <p:ph type="title"/>
          </p:nvPr>
        </p:nvSpPr>
        <p:spPr>
          <a:xfrm>
            <a:off x="421650" y="2260025"/>
            <a:ext cx="8520600" cy="123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else do you need to succeed with [PROGRAM/ITEM]?</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FAST ACTION BONUSES</a:t>
            </a:r>
            <a:endParaRPr dirty="0"/>
          </a:p>
        </p:txBody>
      </p:sp>
      <p:sp>
        <p:nvSpPr>
          <p:cNvPr id="303" name="Google Shape;303;p5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r>
              <a:rPr lang="en-IN" b="1" dirty="0"/>
              <a:t>Bonus 1: Data Science Career Roadmap PDF</a:t>
            </a:r>
            <a:endParaRPr lang="en-IN" dirty="0"/>
          </a:p>
          <a:p>
            <a:r>
              <a:rPr lang="en-IN" dirty="0"/>
              <a:t>Beginner  Job-ready Data Scientist  complete learning path. </a:t>
            </a:r>
          </a:p>
          <a:p>
            <a:r>
              <a:rPr lang="en-IN" b="1" dirty="0"/>
              <a:t>Bonus 2: Data Science Interview Preparation Kit</a:t>
            </a:r>
            <a:endParaRPr lang="en-IN" dirty="0"/>
          </a:p>
          <a:p>
            <a:r>
              <a:rPr lang="en-IN" dirty="0"/>
              <a:t>Python, SQL, Machine Learning interview questions and preparation tips. </a:t>
            </a:r>
          </a:p>
          <a:p>
            <a:r>
              <a:rPr lang="en-IN" b="1" dirty="0"/>
              <a:t>Bonus 3: Industry Project Ideas Guide</a:t>
            </a:r>
            <a:endParaRPr lang="en-IN" dirty="0"/>
          </a:p>
          <a:p>
            <a:r>
              <a:rPr lang="en-IN" dirty="0"/>
              <a:t>Resume- add real-world Data Science project ideas. </a:t>
            </a:r>
          </a:p>
          <a:p>
            <a:r>
              <a:rPr lang="en-IN" b="1" dirty="0"/>
              <a:t>Bonus 4: Data Science Resume Template</a:t>
            </a:r>
            <a:endParaRPr lang="en-IN" dirty="0"/>
          </a:p>
          <a:p>
            <a:r>
              <a:rPr lang="en-IN" dirty="0"/>
              <a:t>Recruiter-friendly resume structure. </a:t>
            </a:r>
          </a:p>
          <a:p>
            <a:r>
              <a:rPr lang="en-IN" b="1" dirty="0"/>
              <a:t>Bonus 5: Personal Career Guidance Session</a:t>
            </a:r>
            <a:r>
              <a:rPr lang="en-IN" dirty="0"/>
              <a:t> </a:t>
            </a:r>
            <a:r>
              <a:rPr lang="en-IN" i="1" dirty="0"/>
              <a:t>(offer)</a:t>
            </a:r>
            <a:endParaRPr lang="en-IN" dirty="0"/>
          </a:p>
          <a:p>
            <a:r>
              <a:rPr lang="en-IN" dirty="0"/>
              <a:t>Learning path  career direction  guidance.</a:t>
            </a:r>
          </a:p>
          <a:p>
            <a:pPr marL="0" lvl="0" indent="0" algn="l" rtl="0">
              <a:spcBef>
                <a:spcPts val="1600"/>
              </a:spcBef>
              <a:spcAft>
                <a:spcPts val="1600"/>
              </a:spcAft>
              <a:buNone/>
            </a:pP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5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FAST ACTION BONUSES </a:t>
            </a:r>
            <a:r>
              <a:rPr lang="en">
                <a:solidFill>
                  <a:srgbClr val="FF0000"/>
                </a:solidFill>
              </a:rPr>
              <a:t>(stacking page)</a:t>
            </a:r>
            <a:endParaRPr>
              <a:solidFill>
                <a:srgbClr val="FF0000"/>
              </a:solidFill>
            </a:endParaRPr>
          </a:p>
          <a:p>
            <a:pPr marL="0" lvl="0" indent="0" algn="l" rtl="0">
              <a:spcBef>
                <a:spcPts val="0"/>
              </a:spcBef>
              <a:spcAft>
                <a:spcPts val="0"/>
              </a:spcAft>
              <a:buNone/>
            </a:pPr>
            <a:r>
              <a:rPr lang="en">
                <a:solidFill>
                  <a:srgbClr val="FF0000"/>
                </a:solidFill>
              </a:rPr>
              <a:t>(after announcing each bonus, you’ll stack it)</a:t>
            </a:r>
            <a:endParaRPr>
              <a:solidFill>
                <a:srgbClr val="FF0000"/>
              </a:solidFill>
            </a:endParaRPr>
          </a:p>
        </p:txBody>
      </p:sp>
      <p:sp>
        <p:nvSpPr>
          <p:cNvPr id="309" name="Google Shape;309;p56"/>
          <p:cNvSpPr txBox="1">
            <a:spLocks noGrp="1"/>
          </p:cNvSpPr>
          <p:nvPr>
            <p:ph type="body" idx="1"/>
          </p:nvPr>
        </p:nvSpPr>
        <p:spPr>
          <a:xfrm>
            <a:off x="311700" y="1662625"/>
            <a:ext cx="8520600" cy="290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BONUS #1: (Objection crushing Bonus- give them something that increases perceived value but also tries to crush one of their objections. For example- they feel they will not get support- offer a free coaching call, support group, etc.)</a:t>
            </a:r>
            <a:endParaRPr/>
          </a:p>
          <a:p>
            <a:pPr marL="0" lvl="0" indent="0" algn="l" rtl="0">
              <a:spcBef>
                <a:spcPts val="1600"/>
              </a:spcBef>
              <a:spcAft>
                <a:spcPts val="1600"/>
              </a:spcAft>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FAST ACTION BONUSES</a:t>
            </a:r>
            <a:endParaRPr/>
          </a:p>
        </p:txBody>
      </p:sp>
      <p:sp>
        <p:nvSpPr>
          <p:cNvPr id="315" name="Google Shape;315;p5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b="1"/>
              <a:t>BONUS #2: </a:t>
            </a:r>
            <a:endParaRPr sz="2400" b="1"/>
          </a:p>
          <a:p>
            <a:pPr marL="0" lvl="0" indent="0" algn="ctr" rtl="0">
              <a:spcBef>
                <a:spcPts val="1600"/>
              </a:spcBef>
              <a:spcAft>
                <a:spcPts val="0"/>
              </a:spcAft>
              <a:buNone/>
            </a:pPr>
            <a:r>
              <a:rPr lang="en"/>
              <a:t>(Objection crushing Bonus- give them something that increases perceived value but also tries to crush one of their objections. For example- they feel they will not get support- offer a free coaching call, support group, etc.)</a:t>
            </a:r>
            <a:endParaRPr/>
          </a:p>
          <a:p>
            <a:pPr marL="0" lvl="0" indent="0" algn="l" rtl="0">
              <a:spcBef>
                <a:spcPts val="1600"/>
              </a:spcBef>
              <a:spcAft>
                <a:spcPts val="1600"/>
              </a:spcAft>
              <a:buNone/>
            </a:pP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5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FAST ACTION BONUSES </a:t>
            </a:r>
            <a:r>
              <a:rPr lang="en">
                <a:solidFill>
                  <a:srgbClr val="FF0000"/>
                </a:solidFill>
              </a:rPr>
              <a:t>(stacking page)</a:t>
            </a:r>
            <a:endParaRPr>
              <a:solidFill>
                <a:srgbClr val="FF0000"/>
              </a:solidFill>
            </a:endParaRPr>
          </a:p>
          <a:p>
            <a:pPr marL="0" lvl="0" indent="0" algn="l" rtl="0">
              <a:spcBef>
                <a:spcPts val="0"/>
              </a:spcBef>
              <a:spcAft>
                <a:spcPts val="0"/>
              </a:spcAft>
              <a:buNone/>
            </a:pPr>
            <a:r>
              <a:rPr lang="en">
                <a:solidFill>
                  <a:srgbClr val="FF0000"/>
                </a:solidFill>
              </a:rPr>
              <a:t>(after announcing each bonus, you’ll stack it)</a:t>
            </a:r>
            <a:endParaRPr>
              <a:solidFill>
                <a:srgbClr val="FF0000"/>
              </a:solidFill>
            </a:endParaRPr>
          </a:p>
        </p:txBody>
      </p:sp>
      <p:sp>
        <p:nvSpPr>
          <p:cNvPr id="321" name="Google Shape;321;p58"/>
          <p:cNvSpPr txBox="1">
            <a:spLocks noGrp="1"/>
          </p:cNvSpPr>
          <p:nvPr>
            <p:ph type="body" idx="1"/>
          </p:nvPr>
        </p:nvSpPr>
        <p:spPr>
          <a:xfrm>
            <a:off x="311700" y="1662625"/>
            <a:ext cx="8520600" cy="290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BONUS #1: (Objection crushing Bonus- give them something that increases perceived value but also tries to crush one of their objections. For example- they feel they will not get support- offer a free coaching call, support group, etc.)</a:t>
            </a:r>
            <a:endParaRPr/>
          </a:p>
          <a:p>
            <a:pPr marL="0" lvl="0" indent="0" algn="l" rtl="0">
              <a:spcBef>
                <a:spcPts val="1600"/>
              </a:spcBef>
              <a:spcAft>
                <a:spcPts val="0"/>
              </a:spcAft>
              <a:buClr>
                <a:schemeClr val="dk1"/>
              </a:buClr>
              <a:buSzPts val="1100"/>
              <a:buFont typeface="Arial"/>
              <a:buNone/>
            </a:pPr>
            <a:r>
              <a:rPr lang="en"/>
              <a:t>BONUS #2: (Objection crushing Bonus- give them something that increases perceived value but also tries to crush one of their objections. For example- they feel they will not get support- offer a free coaching call, support group, etc.)</a:t>
            </a:r>
            <a:endParaRPr/>
          </a:p>
          <a:p>
            <a:pPr marL="0" lvl="0" indent="0" algn="l" rtl="0">
              <a:spcBef>
                <a:spcPts val="1600"/>
              </a:spcBef>
              <a:spcAft>
                <a:spcPts val="1600"/>
              </a:spcAft>
              <a:buNone/>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FAST ACTION BONUSES</a:t>
            </a:r>
            <a:endParaRPr/>
          </a:p>
        </p:txBody>
      </p:sp>
      <p:sp>
        <p:nvSpPr>
          <p:cNvPr id="327" name="Google Shape;327;p5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b="1"/>
              <a:t>BONUS #3: </a:t>
            </a:r>
            <a:endParaRPr sz="2400" b="1"/>
          </a:p>
          <a:p>
            <a:pPr marL="0" lvl="0" indent="0" algn="ctr" rtl="0">
              <a:spcBef>
                <a:spcPts val="1600"/>
              </a:spcBef>
              <a:spcAft>
                <a:spcPts val="0"/>
              </a:spcAft>
              <a:buNone/>
            </a:pPr>
            <a:r>
              <a:rPr lang="en"/>
              <a:t>(Objection crushing Bonus- give them something that increases perceived value but also tries to crush one of their objections. For example- they feel they will not get support- offer a free coaching call, support group, etc.)</a:t>
            </a:r>
            <a:endParaRPr/>
          </a:p>
          <a:p>
            <a:pPr marL="0" lvl="0" indent="0" algn="l" rtl="0">
              <a:spcBef>
                <a:spcPts val="1600"/>
              </a:spcBef>
              <a:spcAft>
                <a:spcPts val="1600"/>
              </a:spcAft>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6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FAST ACTION BONUSES </a:t>
            </a:r>
            <a:r>
              <a:rPr lang="en">
                <a:solidFill>
                  <a:srgbClr val="FF0000"/>
                </a:solidFill>
              </a:rPr>
              <a:t>(stacking page)</a:t>
            </a:r>
            <a:endParaRPr>
              <a:solidFill>
                <a:srgbClr val="FF0000"/>
              </a:solidFill>
            </a:endParaRPr>
          </a:p>
          <a:p>
            <a:pPr marL="0" lvl="0" indent="0" algn="l" rtl="0">
              <a:spcBef>
                <a:spcPts val="0"/>
              </a:spcBef>
              <a:spcAft>
                <a:spcPts val="0"/>
              </a:spcAft>
              <a:buNone/>
            </a:pPr>
            <a:r>
              <a:rPr lang="en">
                <a:solidFill>
                  <a:srgbClr val="FF0000"/>
                </a:solidFill>
              </a:rPr>
              <a:t>(after announcing each bonus, you’ll stack it)</a:t>
            </a:r>
            <a:endParaRPr>
              <a:solidFill>
                <a:srgbClr val="FF0000"/>
              </a:solidFill>
            </a:endParaRPr>
          </a:p>
        </p:txBody>
      </p:sp>
      <p:sp>
        <p:nvSpPr>
          <p:cNvPr id="333" name="Google Shape;333;p60"/>
          <p:cNvSpPr txBox="1">
            <a:spLocks noGrp="1"/>
          </p:cNvSpPr>
          <p:nvPr>
            <p:ph type="body" idx="1"/>
          </p:nvPr>
        </p:nvSpPr>
        <p:spPr>
          <a:xfrm>
            <a:off x="311700" y="1478675"/>
            <a:ext cx="8520600" cy="290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BONUS #1: (Objection crushing Bonus- give them something that increases perceived value but also tries to crush one of their objections. For example- they feel they will not get support- offer a free coaching call, support group, etc.)</a:t>
            </a:r>
            <a:endParaRPr/>
          </a:p>
          <a:p>
            <a:pPr marL="0" lvl="0" indent="0" algn="l" rtl="0">
              <a:spcBef>
                <a:spcPts val="1600"/>
              </a:spcBef>
              <a:spcAft>
                <a:spcPts val="0"/>
              </a:spcAft>
              <a:buNone/>
            </a:pPr>
            <a:r>
              <a:rPr lang="en"/>
              <a:t>BONUS #2: (Objection crushing Bonus- give them something that increases perceived value but also tries to crush one of their objections. For example- they feel they will not get support- offer a free coaching call, support group, etc.)</a:t>
            </a:r>
            <a:endParaRPr/>
          </a:p>
          <a:p>
            <a:pPr marL="0" lvl="0" indent="0" algn="l" rtl="0">
              <a:spcBef>
                <a:spcPts val="1600"/>
              </a:spcBef>
              <a:spcAft>
                <a:spcPts val="0"/>
              </a:spcAft>
              <a:buNone/>
            </a:pPr>
            <a:r>
              <a:rPr lang="en"/>
              <a:t>BONUS #3: (Objection crushing Bonus- give them something that increases perceived value but also tries to crush one of their objections. For example- they feel they will not get support- offer a free coaching call, support group, etc.)</a:t>
            </a: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61"/>
          <p:cNvSpPr txBox="1">
            <a:spLocks noGrp="1"/>
          </p:cNvSpPr>
          <p:nvPr>
            <p:ph type="title"/>
          </p:nvPr>
        </p:nvSpPr>
        <p:spPr>
          <a:xfrm>
            <a:off x="283400" y="1125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Here’s Everything You Get… </a:t>
            </a:r>
            <a:r>
              <a:rPr lang="en">
                <a:solidFill>
                  <a:srgbClr val="FF0000"/>
                </a:solidFill>
              </a:rPr>
              <a:t>(Final stack slide)</a:t>
            </a:r>
            <a:endParaRPr>
              <a:solidFill>
                <a:srgbClr val="FF0000"/>
              </a:solidFill>
            </a:endParaRPr>
          </a:p>
        </p:txBody>
      </p:sp>
      <p:sp>
        <p:nvSpPr>
          <p:cNvPr id="339" name="Google Shape;339;p61"/>
          <p:cNvSpPr txBox="1">
            <a:spLocks noGrp="1"/>
          </p:cNvSpPr>
          <p:nvPr>
            <p:ph type="body" idx="1"/>
          </p:nvPr>
        </p:nvSpPr>
        <p:spPr>
          <a:xfrm>
            <a:off x="311700" y="1152475"/>
            <a:ext cx="8520600" cy="387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Main Product/Service Part 1……………………………………. $XXX value</a:t>
            </a:r>
            <a:endParaRPr/>
          </a:p>
          <a:p>
            <a:pPr marL="0" lvl="0" indent="0" algn="l" rtl="0">
              <a:spcBef>
                <a:spcPts val="1600"/>
              </a:spcBef>
              <a:spcAft>
                <a:spcPts val="0"/>
              </a:spcAft>
              <a:buClr>
                <a:schemeClr val="dk1"/>
              </a:buClr>
              <a:buSzPts val="1100"/>
              <a:buFont typeface="Arial"/>
              <a:buNone/>
            </a:pPr>
            <a:r>
              <a:rPr lang="en"/>
              <a:t>Main Product/Service Part 2……………………………………. $XXX value</a:t>
            </a:r>
            <a:endParaRPr/>
          </a:p>
          <a:p>
            <a:pPr marL="0" lvl="0" indent="0" algn="l" rtl="0">
              <a:spcBef>
                <a:spcPts val="1600"/>
              </a:spcBef>
              <a:spcAft>
                <a:spcPts val="0"/>
              </a:spcAft>
              <a:buClr>
                <a:schemeClr val="dk1"/>
              </a:buClr>
              <a:buSzPts val="1100"/>
              <a:buFont typeface="Arial"/>
              <a:buNone/>
            </a:pPr>
            <a:r>
              <a:rPr lang="en"/>
              <a:t>Main Product/Service Part 3……………………………………. $XXX value</a:t>
            </a:r>
            <a:endParaRPr/>
          </a:p>
          <a:p>
            <a:pPr marL="0" lvl="0" indent="0" algn="l" rtl="0">
              <a:spcBef>
                <a:spcPts val="1600"/>
              </a:spcBef>
              <a:spcAft>
                <a:spcPts val="0"/>
              </a:spcAft>
              <a:buClr>
                <a:schemeClr val="dk1"/>
              </a:buClr>
              <a:buSzPts val="1100"/>
              <a:buFont typeface="Arial"/>
              <a:buNone/>
            </a:pPr>
            <a:r>
              <a:rPr lang="en"/>
              <a:t>Main Product/Service Part 1……………………………………. $XXX value</a:t>
            </a:r>
            <a:endParaRPr/>
          </a:p>
          <a:p>
            <a:pPr marL="0" lvl="0" indent="0" algn="l" rtl="0">
              <a:spcBef>
                <a:spcPts val="1600"/>
              </a:spcBef>
              <a:spcAft>
                <a:spcPts val="0"/>
              </a:spcAft>
              <a:buClr>
                <a:schemeClr val="dk1"/>
              </a:buClr>
              <a:buSzPts val="1100"/>
              <a:buFont typeface="Arial"/>
              <a:buNone/>
            </a:pPr>
            <a:r>
              <a:rPr lang="en"/>
              <a:t>Objection Crushing/Value Adding Bonus #1………….………. $XXX value</a:t>
            </a:r>
            <a:endParaRPr/>
          </a:p>
          <a:p>
            <a:pPr marL="0" lvl="0" indent="0" algn="l" rtl="0">
              <a:spcBef>
                <a:spcPts val="1600"/>
              </a:spcBef>
              <a:spcAft>
                <a:spcPts val="0"/>
              </a:spcAft>
              <a:buClr>
                <a:schemeClr val="dk1"/>
              </a:buClr>
              <a:buSzPts val="1100"/>
              <a:buFont typeface="Arial"/>
              <a:buNone/>
            </a:pPr>
            <a:r>
              <a:rPr lang="en"/>
              <a:t>Objection Crushing/Value Adding Bonus #2.…………………. $XXX value</a:t>
            </a:r>
            <a:endParaRPr/>
          </a:p>
          <a:p>
            <a:pPr marL="0" lvl="0" indent="0" algn="l" rtl="0">
              <a:spcBef>
                <a:spcPts val="1600"/>
              </a:spcBef>
              <a:spcAft>
                <a:spcPts val="0"/>
              </a:spcAft>
              <a:buClr>
                <a:schemeClr val="dk1"/>
              </a:buClr>
              <a:buSzPts val="1100"/>
              <a:buFont typeface="Arial"/>
              <a:buNone/>
            </a:pPr>
            <a:r>
              <a:rPr lang="en"/>
              <a:t>Objection Crushing/Value Adding Bonus #3.…………………. $XXX value</a:t>
            </a:r>
            <a:endParaRPr/>
          </a:p>
          <a:p>
            <a:pPr marL="0" lvl="0" indent="0" algn="l" rtl="0">
              <a:spcBef>
                <a:spcPts val="1600"/>
              </a:spcBef>
              <a:spcAft>
                <a:spcPts val="1600"/>
              </a:spcAft>
              <a:buNone/>
            </a:pPr>
            <a:endParaRPr/>
          </a:p>
        </p:txBody>
      </p:sp>
      <p:sp>
        <p:nvSpPr>
          <p:cNvPr id="340" name="Google Shape;340;p61"/>
          <p:cNvSpPr txBox="1"/>
          <p:nvPr/>
        </p:nvSpPr>
        <p:spPr>
          <a:xfrm>
            <a:off x="495250" y="685200"/>
            <a:ext cx="78885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FF0000"/>
                </a:solidFill>
              </a:rPr>
              <a:t>Put these each on an individual slide, so it looks like you’re “stacking” value on top and make them feel like it just keeps getting better and better.</a:t>
            </a:r>
            <a:endParaRPr sz="1200">
              <a:solidFill>
                <a:srgbClr val="FF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62"/>
          <p:cNvSpPr txBox="1">
            <a:spLocks noGrp="1"/>
          </p:cNvSpPr>
          <p:nvPr>
            <p:ph type="title"/>
          </p:nvPr>
        </p:nvSpPr>
        <p:spPr>
          <a:xfrm>
            <a:off x="283400" y="11250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Here’s Everything You Get… </a:t>
            </a:r>
            <a:r>
              <a:rPr lang="en">
                <a:solidFill>
                  <a:srgbClr val="FF0000"/>
                </a:solidFill>
              </a:rPr>
              <a:t>(Final stack slide)</a:t>
            </a:r>
            <a:endParaRPr>
              <a:solidFill>
                <a:srgbClr val="FF0000"/>
              </a:solidFill>
            </a:endParaRPr>
          </a:p>
        </p:txBody>
      </p:sp>
      <p:sp>
        <p:nvSpPr>
          <p:cNvPr id="346" name="Google Shape;346;p62"/>
          <p:cNvSpPr txBox="1">
            <a:spLocks noGrp="1"/>
          </p:cNvSpPr>
          <p:nvPr>
            <p:ph type="body" idx="1"/>
          </p:nvPr>
        </p:nvSpPr>
        <p:spPr>
          <a:xfrm>
            <a:off x="311700" y="1152475"/>
            <a:ext cx="8520600" cy="3156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200"/>
              <a:t>Main Product/Service Part 1……………………………………. $XXX value</a:t>
            </a:r>
            <a:endParaRPr sz="1200"/>
          </a:p>
          <a:p>
            <a:pPr marL="0" lvl="0" indent="0" algn="ctr" rtl="0">
              <a:spcBef>
                <a:spcPts val="1600"/>
              </a:spcBef>
              <a:spcAft>
                <a:spcPts val="0"/>
              </a:spcAft>
              <a:buNone/>
            </a:pPr>
            <a:r>
              <a:rPr lang="en" sz="1200"/>
              <a:t>Main Product/Service Part 2……………………………………. $XXX value</a:t>
            </a:r>
            <a:endParaRPr sz="1200"/>
          </a:p>
          <a:p>
            <a:pPr marL="0" lvl="0" indent="0" algn="ctr" rtl="0">
              <a:spcBef>
                <a:spcPts val="1600"/>
              </a:spcBef>
              <a:spcAft>
                <a:spcPts val="0"/>
              </a:spcAft>
              <a:buNone/>
            </a:pPr>
            <a:r>
              <a:rPr lang="en" sz="1200"/>
              <a:t>Main Product/Service Part 3……………………………………. $XXX value</a:t>
            </a:r>
            <a:endParaRPr sz="1200"/>
          </a:p>
          <a:p>
            <a:pPr marL="0" lvl="0" indent="0" algn="ctr" rtl="0">
              <a:spcBef>
                <a:spcPts val="1600"/>
              </a:spcBef>
              <a:spcAft>
                <a:spcPts val="0"/>
              </a:spcAft>
              <a:buNone/>
            </a:pPr>
            <a:r>
              <a:rPr lang="en" sz="1200"/>
              <a:t>Main Product/Service Part 1……………………………………. $XXX value</a:t>
            </a:r>
            <a:endParaRPr sz="1200"/>
          </a:p>
          <a:p>
            <a:pPr marL="0" lvl="0" indent="0" algn="ctr" rtl="0">
              <a:spcBef>
                <a:spcPts val="1600"/>
              </a:spcBef>
              <a:spcAft>
                <a:spcPts val="0"/>
              </a:spcAft>
              <a:buNone/>
            </a:pPr>
            <a:r>
              <a:rPr lang="en" sz="1200"/>
              <a:t>Objection Crushing/Value Adding Bonus #1………….………. $XXX value</a:t>
            </a:r>
            <a:endParaRPr sz="1200"/>
          </a:p>
          <a:p>
            <a:pPr marL="0" lvl="0" indent="0" algn="ctr" rtl="0">
              <a:spcBef>
                <a:spcPts val="1600"/>
              </a:spcBef>
              <a:spcAft>
                <a:spcPts val="0"/>
              </a:spcAft>
              <a:buNone/>
            </a:pPr>
            <a:r>
              <a:rPr lang="en" sz="1200"/>
              <a:t>Objection Crushing/Value Adding Bonus #2.…………………. $XXX value</a:t>
            </a:r>
            <a:endParaRPr sz="1200"/>
          </a:p>
          <a:p>
            <a:pPr marL="0" lvl="0" indent="0" algn="ctr" rtl="0">
              <a:spcBef>
                <a:spcPts val="1600"/>
              </a:spcBef>
              <a:spcAft>
                <a:spcPts val="0"/>
              </a:spcAft>
              <a:buNone/>
            </a:pPr>
            <a:r>
              <a:rPr lang="en" sz="1200"/>
              <a:t>Objection Crushing/Value Adding Bonus #3.…………………. $XXX value</a:t>
            </a:r>
            <a:endParaRPr sz="1200"/>
          </a:p>
          <a:p>
            <a:pPr marL="0" lvl="0" indent="0" algn="l" rtl="0">
              <a:spcBef>
                <a:spcPts val="1600"/>
              </a:spcBef>
              <a:spcAft>
                <a:spcPts val="1600"/>
              </a:spcAft>
              <a:buNone/>
            </a:pPr>
            <a:endParaRPr/>
          </a:p>
        </p:txBody>
      </p:sp>
      <p:sp>
        <p:nvSpPr>
          <p:cNvPr id="347" name="Google Shape;347;p62"/>
          <p:cNvSpPr txBox="1"/>
          <p:nvPr/>
        </p:nvSpPr>
        <p:spPr>
          <a:xfrm>
            <a:off x="495250" y="685200"/>
            <a:ext cx="78885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FF0000"/>
                </a:solidFill>
              </a:rPr>
              <a:t>Put these each on an individual slide, so it looks like you’re “stacking” value on top and make them feel like it just keeps getting better and better.</a:t>
            </a:r>
            <a:endParaRPr sz="1200">
              <a:solidFill>
                <a:srgbClr val="FF0000"/>
              </a:solidFill>
            </a:endParaRPr>
          </a:p>
        </p:txBody>
      </p:sp>
      <p:sp>
        <p:nvSpPr>
          <p:cNvPr id="348" name="Google Shape;348;p62"/>
          <p:cNvSpPr txBox="1">
            <a:spLocks noGrp="1"/>
          </p:cNvSpPr>
          <p:nvPr>
            <p:ph type="title"/>
          </p:nvPr>
        </p:nvSpPr>
        <p:spPr>
          <a:xfrm>
            <a:off x="311700" y="4134900"/>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rgbClr val="FF0000"/>
                </a:solidFill>
              </a:rPr>
              <a:t>Actual Read World Value: $XX,XXX (be real!)</a:t>
            </a:r>
            <a:endParaRPr>
              <a:solidFill>
                <a:srgbClr val="FF00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6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(Deciding Your Deal)</a:t>
            </a:r>
            <a:endParaRPr/>
          </a:p>
        </p:txBody>
      </p:sp>
      <p:sp>
        <p:nvSpPr>
          <p:cNvPr id="354" name="Google Shape;354;p6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One tactic is to use a webinar timer (you can embed a youtube timer video into a Google slide deck).  Give a webinar-only price and offer stack that expires at the end of the timer.</a:t>
            </a:r>
            <a:endParaRPr/>
          </a:p>
          <a:p>
            <a:pPr marL="0" lvl="0" indent="0" algn="l" rtl="0">
              <a:spcBef>
                <a:spcPts val="1600"/>
              </a:spcBef>
              <a:spcAft>
                <a:spcPts val="0"/>
              </a:spcAft>
              <a:buNone/>
            </a:pPr>
            <a:r>
              <a:rPr lang="en"/>
              <a:t>Another option is to LINK to a page with a timer on it for a deal that expires in a few days,a week, month, etc.</a:t>
            </a:r>
            <a:endParaRPr/>
          </a:p>
          <a:p>
            <a:pPr marL="0" lvl="0" indent="0" algn="l" rtl="0">
              <a:spcBef>
                <a:spcPts val="1600"/>
              </a:spcBef>
              <a:spcAft>
                <a:spcPts val="1600"/>
              </a:spcAft>
              <a:buNone/>
            </a:pPr>
            <a:r>
              <a:rPr lang="en"/>
              <a:t>Or, you can just link to a book a call page, or offer page without any sort of urgency or scarcity. The main focus is to make the OFFER so good that it works regardless of the need for urgency or scarcity- however, adding these if possible could really increase your conversions.</a:t>
            </a:r>
            <a:r>
              <a:rPr lang="en">
                <a:solidFill>
                  <a:srgbClr val="FF0000"/>
                </a:solidFill>
              </a:rPr>
              <a:t> Just make sure your offer is as amazing as it can be first.</a:t>
            </a:r>
            <a:endParaRPr>
              <a:solidFill>
                <a:srgbClr val="FF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6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Another Idea</a:t>
            </a:r>
            <a:endParaRPr/>
          </a:p>
        </p:txBody>
      </p:sp>
      <p:sp>
        <p:nvSpPr>
          <p:cNvPr id="360" name="Google Shape;360;p6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One more idea is to show them your website and that your website price is higher than what this webinar deal is. Explain that since they took action to show up for your webinar, the webinar attendee deal is better than your website (add urgency if you like).</a:t>
            </a:r>
            <a:endParaRPr>
              <a:solidFill>
                <a:srgbClr val="FF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65"/>
          <p:cNvSpPr txBox="1">
            <a:spLocks noGrp="1"/>
          </p:cNvSpPr>
          <p:nvPr>
            <p:ph type="title"/>
          </p:nvPr>
        </p:nvSpPr>
        <p:spPr>
          <a:xfrm>
            <a:off x="311700" y="8129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Special Webinar Deal</a:t>
            </a:r>
            <a:endParaRPr/>
          </a:p>
        </p:txBody>
      </p:sp>
      <p:sp>
        <p:nvSpPr>
          <p:cNvPr id="366" name="Google Shape;366;p65"/>
          <p:cNvSpPr txBox="1">
            <a:spLocks noGrp="1"/>
          </p:cNvSpPr>
          <p:nvPr>
            <p:ph type="body" idx="1"/>
          </p:nvPr>
        </p:nvSpPr>
        <p:spPr>
          <a:xfrm>
            <a:off x="311700" y="1520375"/>
            <a:ext cx="8520600" cy="3416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500" strike="sngStrike">
                <a:solidFill>
                  <a:srgbClr val="FF0000"/>
                </a:solidFill>
              </a:rPr>
              <a:t>$XX,XXX</a:t>
            </a:r>
            <a:endParaRPr sz="2500" strike="sngStrike">
              <a:solidFill>
                <a:srgbClr val="FF0000"/>
              </a:solidFill>
            </a:endParaRPr>
          </a:p>
          <a:p>
            <a:pPr marL="0" lvl="0" indent="0" algn="ctr" rtl="0">
              <a:spcBef>
                <a:spcPts val="1600"/>
              </a:spcBef>
              <a:spcAft>
                <a:spcPts val="1600"/>
              </a:spcAft>
              <a:buNone/>
            </a:pPr>
            <a:r>
              <a:rPr lang="en" sz="2500">
                <a:solidFill>
                  <a:srgbClr val="FF0000"/>
                </a:solidFill>
              </a:rPr>
              <a:t>$XXX or $XXXX</a:t>
            </a:r>
            <a:endParaRPr sz="2500">
              <a:solidFill>
                <a:srgbClr val="FF0000"/>
              </a:solidFill>
            </a:endParaRPr>
          </a:p>
        </p:txBody>
      </p:sp>
      <p:sp>
        <p:nvSpPr>
          <p:cNvPr id="367" name="Google Shape;367;p65"/>
          <p:cNvSpPr txBox="1"/>
          <p:nvPr/>
        </p:nvSpPr>
        <p:spPr>
          <a:xfrm>
            <a:off x="1789975" y="3070525"/>
            <a:ext cx="5249700" cy="66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8" name="Google Shape;368;p65"/>
          <p:cNvSpPr txBox="1"/>
          <p:nvPr/>
        </p:nvSpPr>
        <p:spPr>
          <a:xfrm>
            <a:off x="1834050" y="3304000"/>
            <a:ext cx="5475900" cy="870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t>http://yourlink.com/deal</a:t>
            </a:r>
            <a:endParaRPr sz="20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6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Reminder: Everything You’re Getting:</a:t>
            </a:r>
            <a:endParaRPr/>
          </a:p>
        </p:txBody>
      </p:sp>
      <p:sp>
        <p:nvSpPr>
          <p:cNvPr id="374" name="Google Shape;374;p66"/>
          <p:cNvSpPr txBox="1"/>
          <p:nvPr/>
        </p:nvSpPr>
        <p:spPr>
          <a:xfrm>
            <a:off x="0" y="4563350"/>
            <a:ext cx="9183300" cy="643800"/>
          </a:xfrm>
          <a:prstGeom prst="rect">
            <a:avLst/>
          </a:prstGeom>
          <a:solidFill>
            <a:srgbClr val="FF9900"/>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rgbClr val="FFFFFF"/>
                </a:solidFill>
              </a:rPr>
              <a:t>&gt;&gt; Grab (Item) Here: </a:t>
            </a:r>
            <a:r>
              <a:rPr lang="en" sz="2400" u="sng">
                <a:solidFill>
                  <a:srgbClr val="FFFFFF"/>
                </a:solidFill>
                <a:hlinkClick r:id="rId3">
                  <a:extLst>
                    <a:ext uri="{A12FA001-AC4F-418D-AE19-62706E023703}">
                      <ahyp:hlinkClr xmlns:ahyp="http://schemas.microsoft.com/office/drawing/2018/hyperlinkcolor" val="tx"/>
                    </a:ext>
                  </a:extLst>
                </a:hlinkClick>
              </a:rPr>
              <a:t>http://yourlink.com/deal</a:t>
            </a:r>
            <a:r>
              <a:rPr lang="en" sz="2400">
                <a:solidFill>
                  <a:srgbClr val="FFFFFF"/>
                </a:solidFill>
              </a:rPr>
              <a:t>  &lt;&lt;</a:t>
            </a:r>
            <a:endParaRPr sz="2400">
              <a:solidFill>
                <a:srgbClr val="FFFFFF"/>
              </a:solidFill>
            </a:endParaRPr>
          </a:p>
        </p:txBody>
      </p:sp>
      <p:sp>
        <p:nvSpPr>
          <p:cNvPr id="375" name="Google Shape;375;p66"/>
          <p:cNvSpPr txBox="1"/>
          <p:nvPr/>
        </p:nvSpPr>
        <p:spPr>
          <a:xfrm>
            <a:off x="474025" y="1231050"/>
            <a:ext cx="8001900" cy="292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t>Recap the offer</a:t>
            </a:r>
            <a:endParaRPr sz="16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6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Everything This Will Do For You:</a:t>
            </a:r>
            <a:endParaRPr/>
          </a:p>
        </p:txBody>
      </p:sp>
      <p:sp>
        <p:nvSpPr>
          <p:cNvPr id="381" name="Google Shape;381;p67"/>
          <p:cNvSpPr txBox="1"/>
          <p:nvPr/>
        </p:nvSpPr>
        <p:spPr>
          <a:xfrm>
            <a:off x="0" y="4563350"/>
            <a:ext cx="9183300" cy="643800"/>
          </a:xfrm>
          <a:prstGeom prst="rect">
            <a:avLst/>
          </a:prstGeom>
          <a:solidFill>
            <a:srgbClr val="FF9900"/>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rgbClr val="FFFFFF"/>
                </a:solidFill>
              </a:rPr>
              <a:t>&gt;&gt; Grab (Item) Here: </a:t>
            </a:r>
            <a:r>
              <a:rPr lang="en" sz="2400" u="sng">
                <a:solidFill>
                  <a:srgbClr val="FFFFFF"/>
                </a:solidFill>
                <a:hlinkClick r:id="rId3">
                  <a:extLst>
                    <a:ext uri="{A12FA001-AC4F-418D-AE19-62706E023703}">
                      <ahyp:hlinkClr xmlns:ahyp="http://schemas.microsoft.com/office/drawing/2018/hyperlinkcolor" val="tx"/>
                    </a:ext>
                  </a:extLst>
                </a:hlinkClick>
              </a:rPr>
              <a:t>http://yourlink.com/deal</a:t>
            </a:r>
            <a:r>
              <a:rPr lang="en" sz="2400">
                <a:solidFill>
                  <a:srgbClr val="FFFFFF"/>
                </a:solidFill>
              </a:rPr>
              <a:t>  &lt;&lt;</a:t>
            </a:r>
            <a:endParaRPr sz="2400">
              <a:solidFill>
                <a:srgbClr val="FFFFFF"/>
              </a:solidFill>
            </a:endParaRPr>
          </a:p>
        </p:txBody>
      </p:sp>
      <p:sp>
        <p:nvSpPr>
          <p:cNvPr id="382" name="Google Shape;382;p67"/>
          <p:cNvSpPr txBox="1"/>
          <p:nvPr/>
        </p:nvSpPr>
        <p:spPr>
          <a:xfrm>
            <a:off x="474025" y="1231050"/>
            <a:ext cx="8001900" cy="292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t>Recap the emotional benefits/how this will relieve pain</a:t>
            </a:r>
            <a:endParaRPr sz="16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6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Reminder of results for others/let them taste it</a:t>
            </a:r>
            <a:endParaRPr/>
          </a:p>
        </p:txBody>
      </p:sp>
      <p:sp>
        <p:nvSpPr>
          <p:cNvPr id="388" name="Google Shape;388;p68"/>
          <p:cNvSpPr txBox="1"/>
          <p:nvPr/>
        </p:nvSpPr>
        <p:spPr>
          <a:xfrm>
            <a:off x="0" y="4563350"/>
            <a:ext cx="9183300" cy="643800"/>
          </a:xfrm>
          <a:prstGeom prst="rect">
            <a:avLst/>
          </a:prstGeom>
          <a:solidFill>
            <a:srgbClr val="FF9900"/>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400">
                <a:solidFill>
                  <a:srgbClr val="FFFFFF"/>
                </a:solidFill>
              </a:rPr>
              <a:t>&gt;&gt; Grab (Item) Here: </a:t>
            </a:r>
            <a:r>
              <a:rPr lang="en" sz="2400" u="sng">
                <a:solidFill>
                  <a:srgbClr val="FFFFFF"/>
                </a:solidFill>
                <a:hlinkClick r:id="rId3">
                  <a:extLst>
                    <a:ext uri="{A12FA001-AC4F-418D-AE19-62706E023703}">
                      <ahyp:hlinkClr xmlns:ahyp="http://schemas.microsoft.com/office/drawing/2018/hyperlinkcolor" val="tx"/>
                    </a:ext>
                  </a:extLst>
                </a:hlinkClick>
              </a:rPr>
              <a:t>http://yourlink.com/deal</a:t>
            </a:r>
            <a:r>
              <a:rPr lang="en" sz="2400">
                <a:solidFill>
                  <a:srgbClr val="FFFFFF"/>
                </a:solidFill>
              </a:rPr>
              <a:t>  &lt;&lt;</a:t>
            </a:r>
            <a:endParaRPr sz="2400">
              <a:solidFill>
                <a:srgbClr val="FFFFFF"/>
              </a:solidFill>
            </a:endParaRPr>
          </a:p>
        </p:txBody>
      </p:sp>
      <p:sp>
        <p:nvSpPr>
          <p:cNvPr id="389" name="Google Shape;389;p68"/>
          <p:cNvSpPr txBox="1"/>
          <p:nvPr/>
        </p:nvSpPr>
        <p:spPr>
          <a:xfrm>
            <a:off x="474025" y="1231050"/>
            <a:ext cx="8001900" cy="292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t>Remind them what this has done for you and others, and how very soon they can join you and the others that already did what they want to do.</a:t>
            </a:r>
            <a:endParaRPr sz="16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Final Slide -Offer Slide NOTES</a:t>
            </a:r>
            <a:endParaRPr>
              <a:solidFill>
                <a:srgbClr val="FF0000"/>
              </a:solidFill>
            </a:endParaRPr>
          </a:p>
        </p:txBody>
      </p:sp>
      <p:sp>
        <p:nvSpPr>
          <p:cNvPr id="395" name="Google Shape;395;p69"/>
          <p:cNvSpPr txBox="1">
            <a:spLocks noGrp="1"/>
          </p:cNvSpPr>
          <p:nvPr>
            <p:ph type="body" idx="1"/>
          </p:nvPr>
        </p:nvSpPr>
        <p:spPr>
          <a:xfrm>
            <a:off x="311700" y="1152475"/>
            <a:ext cx="8520600" cy="372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final slide of your webinar will be the offer slide.</a:t>
            </a:r>
            <a:endParaRPr/>
          </a:p>
          <a:p>
            <a:pPr marL="0" lvl="0" indent="0" algn="l" rtl="0">
              <a:spcBef>
                <a:spcPts val="1600"/>
              </a:spcBef>
              <a:spcAft>
                <a:spcPts val="0"/>
              </a:spcAft>
              <a:buNone/>
            </a:pPr>
            <a:r>
              <a:rPr lang="en"/>
              <a:t>What we like to do is have the offer there and any urgency (like a timer), any guarantees, etc. Put it all there.</a:t>
            </a:r>
            <a:endParaRPr/>
          </a:p>
          <a:p>
            <a:pPr marL="0" lvl="0" indent="0" algn="l" rtl="0">
              <a:spcBef>
                <a:spcPts val="1600"/>
              </a:spcBef>
              <a:spcAft>
                <a:spcPts val="0"/>
              </a:spcAft>
              <a:buNone/>
            </a:pPr>
            <a:r>
              <a:rPr lang="en"/>
              <a:t>Leave this slide up for the remaining duration of the webinar. </a:t>
            </a:r>
            <a:endParaRPr/>
          </a:p>
          <a:p>
            <a:pPr marL="0" lvl="0" indent="0" algn="l" rtl="0">
              <a:spcBef>
                <a:spcPts val="1600"/>
              </a:spcBef>
              <a:spcAft>
                <a:spcPts val="0"/>
              </a:spcAft>
              <a:buNone/>
            </a:pPr>
            <a:r>
              <a:rPr lang="en"/>
              <a:t>Now, take questions, Read the answers out loud. If doing pre-recorded, do a list of the frequently asked questions/ all questions you can think of, of any objection-creating questions. Stomp as many objections/be as trusting and open as you can. Close the webinar when you’re done with questions and remind them when the offer ends. If you wish, give them a way to personally follow up with you.</a:t>
            </a:r>
            <a:endParaRPr/>
          </a:p>
          <a:p>
            <a:pPr marL="0" lvl="0" indent="0" algn="l" rtl="0">
              <a:spcBef>
                <a:spcPts val="1600"/>
              </a:spcBef>
              <a:spcAft>
                <a:spcPts val="1600"/>
              </a:spcAft>
              <a:buNone/>
            </a:pP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7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FF0000"/>
                </a:solidFill>
              </a:rPr>
              <a:t>Timer Example Webinar Offer Slide</a:t>
            </a:r>
            <a:endParaRPr>
              <a:solidFill>
                <a:srgbClr val="FF0000"/>
              </a:solidFill>
            </a:endParaRPr>
          </a:p>
        </p:txBody>
      </p:sp>
      <p:pic>
        <p:nvPicPr>
          <p:cNvPr id="401" name="Google Shape;401;p70"/>
          <p:cNvPicPr preferRelativeResize="0"/>
          <p:nvPr/>
        </p:nvPicPr>
        <p:blipFill>
          <a:blip r:embed="rId3">
            <a:alphaModFix/>
          </a:blip>
          <a:stretch>
            <a:fillRect/>
          </a:stretch>
        </p:blipFill>
        <p:spPr>
          <a:xfrm>
            <a:off x="941800" y="1017725"/>
            <a:ext cx="7260407" cy="382097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71"/>
          <p:cNvSpPr txBox="1">
            <a:spLocks noGrp="1"/>
          </p:cNvSpPr>
          <p:nvPr>
            <p:ph type="ctrTitle"/>
          </p:nvPr>
        </p:nvSpPr>
        <p:spPr>
          <a:xfrm>
            <a:off x="311708" y="468650"/>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YOU DID IT!</a:t>
            </a:r>
            <a:endParaRPr/>
          </a:p>
          <a:p>
            <a:pPr marL="0" lvl="0" indent="0" algn="ctr" rtl="0">
              <a:spcBef>
                <a:spcPts val="0"/>
              </a:spcBef>
              <a:spcAft>
                <a:spcPts val="0"/>
              </a:spcAft>
              <a:buNone/>
            </a:pPr>
            <a:r>
              <a:rPr lang="en"/>
              <a:t>GO MAKE SOME SALES :)</a:t>
            </a:r>
            <a:endParaRPr/>
          </a:p>
        </p:txBody>
      </p:sp>
      <p:pic>
        <p:nvPicPr>
          <p:cNvPr id="407" name="Google Shape;407;p71"/>
          <p:cNvPicPr preferRelativeResize="0"/>
          <p:nvPr/>
        </p:nvPicPr>
        <p:blipFill>
          <a:blip r:embed="rId3">
            <a:alphaModFix/>
          </a:blip>
          <a:stretch>
            <a:fillRect/>
          </a:stretch>
        </p:blipFill>
        <p:spPr>
          <a:xfrm>
            <a:off x="3510650" y="4251525"/>
            <a:ext cx="2286000" cy="3810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3702</Words>
  <Application>Microsoft Office PowerPoint</Application>
  <PresentationFormat>On-screen Show (16:9)</PresentationFormat>
  <Paragraphs>214</Paragraphs>
  <Slides>59</Slides>
  <Notes>59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59</vt:i4>
      </vt:variant>
    </vt:vector>
  </HeadingPairs>
  <TitlesOfParts>
    <vt:vector size="61" baseType="lpstr">
      <vt:lpstr>Arial</vt:lpstr>
      <vt:lpstr>Simple Light</vt:lpstr>
      <vt:lpstr>WEBINAR PRESENTATION SLIDES TEMPLATE</vt:lpstr>
      <vt:lpstr>STARTING SOON:  [WEBINAR TITLE HERE]</vt:lpstr>
      <vt:lpstr>[WEBINAR TITLE HERE]</vt:lpstr>
      <vt:lpstr>[DISCLAIMER]</vt:lpstr>
      <vt:lpstr>How Beginners Can Start A Data Science Career Without Confusion Learn the exact roadmap, skills, and projects required to become a job-ready Data Scientist.  </vt:lpstr>
      <vt:lpstr>And this is going to allow you to:</vt:lpstr>
      <vt:lpstr>And you’ll want to make sure you stay until the end...</vt:lpstr>
      <vt:lpstr>Who is this webinar presentation for?</vt:lpstr>
      <vt:lpstr>Who am I and why should you listen to me?</vt:lpstr>
      <vt:lpstr>Start a quick, short story of yourself here. Part 1</vt:lpstr>
      <vt:lpstr>Story Part 2: You’re their hero  (and them, once they solve their problem)</vt:lpstr>
      <vt:lpstr>Story Part 3: Building Authority and Trust</vt:lpstr>
      <vt:lpstr>Story Part 4: Results, results, results!</vt:lpstr>
      <vt:lpstr>A Note About Your Story  (this slide is just a note to you)</vt:lpstr>
      <vt:lpstr>So now, I’m sure you see why I’m so excited to share all of this with you!  So now, type a “1” in the chatbot if you’re ready to dive in, so I can show you how I ____________….  “Awesome! Lots of ones coming in! Let’s dive in…” </vt:lpstr>
      <vt:lpstr>My Goals For You Today</vt:lpstr>
      <vt:lpstr>The Right Roadmap To Become A Data Scientist</vt:lpstr>
      <vt:lpstr>How To Build Real-World Projects That Impress Recruiters</vt:lpstr>
      <vt:lpstr>A few slides about secret #1. Try to focus on building trust, excitement, validation of your particular solution as the BEST solution that works fast, easier than others, etc. Leverage storytelling, humor, and personality if you can.</vt:lpstr>
      <vt:lpstr>3 Secrets To (Main Topic of Webinar/Problem To Solve)</vt:lpstr>
      <vt:lpstr>How To Prepare For Data Science Jobs &amp; Interviews</vt:lpstr>
      <vt:lpstr>A few slides about secret #2. Try to focus on building trust, excitement, validation of your particular solution as the BEST solution that works fast, easier than others, etc. Leverage storytelling, humor, and personality if you can.</vt:lpstr>
      <vt:lpstr>3 Secrets To (Main Topic of Webinar/Problem To Solve)</vt:lpstr>
      <vt:lpstr>join My Data Science Career Accelerator Program Includes: Python  SQL  Machine Learning  Projects  Resume Building  Interview Preparation  Career Support </vt:lpstr>
      <vt:lpstr>A few slides about secret #3. Try to teach something here. You don’t have to go crazy. If you’re pitching a done for you service, you can give them the overview of the process, so later you can pitch “so now you can do it all yourself, or… have me do it” Teaching a bit to give value and make them feel excited/like they learned something, will establish trust, excitement, familiarity and belief in you as a teacher</vt:lpstr>
      <vt:lpstr>3 Secrets To (Main Topic of Webinar/Problem To Solve)</vt:lpstr>
      <vt:lpstr>5: Bonuses Data Science Roadmap PDF  Interview Questions Cheat Sheet  Project Ideas Guide  Resume Templa </vt:lpstr>
      <vt:lpstr>Transition to Pitch (A few options)</vt:lpstr>
      <vt:lpstr>Introducing...</vt:lpstr>
      <vt:lpstr>In a Nutshell, [ITEM FOR SALE] Will Let You:</vt:lpstr>
      <vt:lpstr>What That Means For You Is:</vt:lpstr>
      <vt:lpstr>More Specifically, Here’s What’s Included:</vt:lpstr>
      <vt:lpstr>(Item for sale) Helps You Finally (Solve Problem) Once and for All Without (Previous Issues)</vt:lpstr>
      <vt:lpstr>Quick reminder of how what’s in there helped you</vt:lpstr>
      <vt:lpstr>Testimonials- list of people who have benefitted from your program</vt:lpstr>
      <vt:lpstr>Now, You Have Two Choices...</vt:lpstr>
      <vt:lpstr>Include A Quote Slide If You Like</vt:lpstr>
      <vt:lpstr>And You’re Backed By My Guarantee...</vt:lpstr>
      <vt:lpstr>So To Sum Up Everything...</vt:lpstr>
      <vt:lpstr>Real World Value: $X,XXX</vt:lpstr>
      <vt:lpstr>LIVE DEMO/OVER THE SHOULDER</vt:lpstr>
      <vt:lpstr>Before I Announce The Final [CASE STUDY/DISCOUNTED ETC.] PRICING… </vt:lpstr>
      <vt:lpstr>FAST ACTION BONUSES</vt:lpstr>
      <vt:lpstr>FAST ACTION BONUSES (stacking page) (after announcing each bonus, you’ll stack it)</vt:lpstr>
      <vt:lpstr>FAST ACTION BONUSES</vt:lpstr>
      <vt:lpstr>FAST ACTION BONUSES (stacking page) (after announcing each bonus, you’ll stack it)</vt:lpstr>
      <vt:lpstr>FAST ACTION BONUSES</vt:lpstr>
      <vt:lpstr>FAST ACTION BONUSES (stacking page) (after announcing each bonus, you’ll stack it)</vt:lpstr>
      <vt:lpstr>So Here’s Everything You Get… (Final stack slide)</vt:lpstr>
      <vt:lpstr>So Here’s Everything You Get… (Final stack slide)</vt:lpstr>
      <vt:lpstr>(Deciding Your Deal)</vt:lpstr>
      <vt:lpstr>Another Idea</vt:lpstr>
      <vt:lpstr>Special Webinar Deal</vt:lpstr>
      <vt:lpstr>Reminder: Everything You’re Getting:</vt:lpstr>
      <vt:lpstr>Everything This Will Do For You:</vt:lpstr>
      <vt:lpstr>Reminder of results for others/let them taste it</vt:lpstr>
      <vt:lpstr>Final Slide -Offer Slide NOTES</vt:lpstr>
      <vt:lpstr>Timer Example Webinar Offer Slide</vt:lpstr>
      <vt:lpstr>YOU DID IT! GO MAKE SOME SALES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Marcello Tech</cp:lastModifiedBy>
  <cp:revision>6</cp:revision>
  <dcterms:modified xsi:type="dcterms:W3CDTF">2026-07-29T13:30:41Z</dcterms:modified>
</cp:coreProperties>
</file>